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79646"/>
    <a:srgbClr val="4BACC6"/>
    <a:srgbClr val="81A361"/>
    <a:srgbClr val="CAE0F4"/>
    <a:srgbClr val="D7E9EC"/>
    <a:srgbClr val="D1EAEB"/>
    <a:srgbClr val="FBBE9A"/>
    <a:srgbClr val="D9E7C7"/>
    <a:srgbClr val="EC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0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272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E7F60-F5D9-4FE3-8F91-9521914343E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DB710-2870-4472-8FC6-7ADE545FE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8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DB710-2870-4472-8FC6-7ADE545FE4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44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8.svg"/><Relationship Id="rId18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2.svg"/><Relationship Id="rId12" Type="http://schemas.openxmlformats.org/officeDocument/2006/relationships/image" Target="../media/image7.svg"/><Relationship Id="rId1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5" Type="http://schemas.openxmlformats.org/officeDocument/2006/relationships/image" Target="../media/image10.svg"/><Relationship Id="rId10" Type="http://schemas.openxmlformats.org/officeDocument/2006/relationships/image" Target="../media/image5.svg"/><Relationship Id="rId4" Type="http://schemas.openxmlformats.org/officeDocument/2006/relationships/image" Target="../media/image2.png"/><Relationship Id="rId9" Type="http://schemas.openxmlformats.org/officeDocument/2006/relationships/image" Target="../media/image4.svg"/><Relationship Id="rId1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9C1FC391-22A6-147A-0876-1BF6A159EFFD}"/>
              </a:ext>
            </a:extLst>
          </p:cNvPr>
          <p:cNvSpPr/>
          <p:nvPr/>
        </p:nvSpPr>
        <p:spPr>
          <a:xfrm>
            <a:off x="120073" y="92363"/>
            <a:ext cx="2088000" cy="4536000"/>
          </a:xfrm>
          <a:prstGeom prst="roundRect">
            <a:avLst>
              <a:gd name="adj" fmla="val 3396"/>
            </a:avLst>
          </a:prstGeom>
          <a:solidFill>
            <a:srgbClr val="EFF5E7">
              <a:alpha val="82000"/>
            </a:srgb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Data preparation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6927A19C-66F9-1296-01A4-0844CCE563D8}"/>
              </a:ext>
            </a:extLst>
          </p:cNvPr>
          <p:cNvSpPr/>
          <p:nvPr/>
        </p:nvSpPr>
        <p:spPr>
          <a:xfrm>
            <a:off x="2470727" y="92363"/>
            <a:ext cx="2124000" cy="4536000"/>
          </a:xfrm>
          <a:prstGeom prst="roundRect">
            <a:avLst>
              <a:gd name="adj" fmla="val 3396"/>
            </a:avLst>
          </a:prstGeom>
          <a:solidFill>
            <a:srgbClr val="FEF1E9">
              <a:alpha val="82000"/>
            </a:srgb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Baseline prediction models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5C794CDF-E9EC-C365-A65B-2D9BCECDA0E3}"/>
              </a:ext>
            </a:extLst>
          </p:cNvPr>
          <p:cNvSpPr/>
          <p:nvPr/>
        </p:nvSpPr>
        <p:spPr>
          <a:xfrm>
            <a:off x="4802542" y="92363"/>
            <a:ext cx="2466475" cy="4536000"/>
          </a:xfrm>
          <a:prstGeom prst="roundRect">
            <a:avLst>
              <a:gd name="adj" fmla="val 3396"/>
            </a:avLst>
          </a:prstGeom>
          <a:solidFill>
            <a:srgbClr val="FEF7E9">
              <a:alpha val="8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Underestimation risk control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596173AD-3356-5FB8-F163-1FDA99FC6B11}"/>
              </a:ext>
            </a:extLst>
          </p:cNvPr>
          <p:cNvSpPr/>
          <p:nvPr/>
        </p:nvSpPr>
        <p:spPr>
          <a:xfrm>
            <a:off x="7476831" y="92363"/>
            <a:ext cx="2304000" cy="4536000"/>
          </a:xfrm>
          <a:prstGeom prst="roundRect">
            <a:avLst>
              <a:gd name="adj" fmla="val 3396"/>
            </a:avLst>
          </a:prstGeom>
          <a:solidFill>
            <a:srgbClr val="EEF7F8">
              <a:alpha val="82000"/>
            </a:srgb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Multi-metric evaluation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F0A610C8-9ACB-5942-1FA0-842BAE4831C4}"/>
              </a:ext>
            </a:extLst>
          </p:cNvPr>
          <p:cNvSpPr/>
          <p:nvPr/>
        </p:nvSpPr>
        <p:spPr>
          <a:xfrm>
            <a:off x="9957363" y="92363"/>
            <a:ext cx="2124000" cy="4536000"/>
          </a:xfrm>
          <a:prstGeom prst="roundRect">
            <a:avLst>
              <a:gd name="adj" fmla="val 3396"/>
            </a:avLst>
          </a:prstGeom>
          <a:solidFill>
            <a:srgbClr val="ECF2FA">
              <a:alpha val="82000"/>
            </a:srgb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 Interpretation and decision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D4570FDF-DB26-132A-8491-54867A93622F}"/>
              </a:ext>
            </a:extLst>
          </p:cNvPr>
          <p:cNvSpPr/>
          <p:nvPr/>
        </p:nvSpPr>
        <p:spPr>
          <a:xfrm>
            <a:off x="228073" y="770965"/>
            <a:ext cx="1872000" cy="540000"/>
          </a:xfrm>
          <a:prstGeom prst="roundRect">
            <a:avLst/>
          </a:prstGeom>
          <a:solidFill>
            <a:schemeClr val="bg1">
              <a:alpha val="39000"/>
            </a:schemeClr>
          </a:solidFill>
          <a:ln>
            <a:solidFill>
              <a:srgbClr val="D9E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44 OHL projects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1BA0E896-1F46-C7AB-7ED8-0D32EF2512A4}"/>
              </a:ext>
            </a:extLst>
          </p:cNvPr>
          <p:cNvSpPr/>
          <p:nvPr/>
        </p:nvSpPr>
        <p:spPr>
          <a:xfrm>
            <a:off x="228073" y="1681834"/>
            <a:ext cx="1872000" cy="540000"/>
          </a:xfrm>
          <a:prstGeom prst="roundRect">
            <a:avLst/>
          </a:prstGeom>
          <a:solidFill>
            <a:schemeClr val="bg1">
              <a:alpha val="39000"/>
            </a:schemeClr>
          </a:solidFill>
          <a:ln>
            <a:solidFill>
              <a:srgbClr val="D9E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Heavy-tailed data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9708302A-AEF8-744E-2E30-716B340B8B95}"/>
              </a:ext>
            </a:extLst>
          </p:cNvPr>
          <p:cNvSpPr/>
          <p:nvPr/>
        </p:nvSpPr>
        <p:spPr>
          <a:xfrm>
            <a:off x="236631" y="2592702"/>
            <a:ext cx="1872000" cy="540000"/>
          </a:xfrm>
          <a:prstGeom prst="roundRect">
            <a:avLst/>
          </a:prstGeom>
          <a:solidFill>
            <a:schemeClr val="bg1">
              <a:alpha val="39000"/>
            </a:schemeClr>
          </a:solidFill>
          <a:ln>
            <a:solidFill>
              <a:srgbClr val="D9E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1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 input variables</a:t>
            </a:r>
          </a:p>
          <a:p>
            <a:pPr algn="ctr"/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4489587B-125D-ACD3-DC00-4EE107EE5ABB}"/>
              </a:ext>
            </a:extLst>
          </p:cNvPr>
          <p:cNvSpPr/>
          <p:nvPr/>
        </p:nvSpPr>
        <p:spPr>
          <a:xfrm>
            <a:off x="228073" y="3563655"/>
            <a:ext cx="1872000" cy="900000"/>
          </a:xfrm>
          <a:prstGeom prst="roundRect">
            <a:avLst/>
          </a:prstGeom>
          <a:solidFill>
            <a:schemeClr val="bg1">
              <a:alpha val="39000"/>
            </a:schemeClr>
          </a:solidFill>
          <a:ln>
            <a:solidFill>
              <a:srgbClr val="D9E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 preprocessing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Missing value handling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Z-score normalization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Feature harmonization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33C8A4AD-96D1-6A6C-2FE6-31A2F5907031}"/>
              </a:ext>
            </a:extLst>
          </p:cNvPr>
          <p:cNvSpPr/>
          <p:nvPr/>
        </p:nvSpPr>
        <p:spPr>
          <a:xfrm>
            <a:off x="2578727" y="761729"/>
            <a:ext cx="1908000" cy="2592000"/>
          </a:xfrm>
          <a:prstGeom prst="roundRect">
            <a:avLst>
              <a:gd name="adj" fmla="val 4081"/>
            </a:avLst>
          </a:prstGeom>
          <a:solidFill>
            <a:schemeClr val="bg1">
              <a:alpha val="39000"/>
            </a:schemeClr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rgbClr val="F7964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 benchmark models</a:t>
            </a:r>
            <a:endParaRPr lang="zh-CN" altLang="en-US" sz="1400" b="1" dirty="0">
              <a:solidFill>
                <a:srgbClr val="F7964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2896913F-EEE1-9E56-C13B-298853DB10A3}"/>
              </a:ext>
            </a:extLst>
          </p:cNvPr>
          <p:cNvSpPr/>
          <p:nvPr/>
        </p:nvSpPr>
        <p:spPr>
          <a:xfrm>
            <a:off x="2632365" y="1080655"/>
            <a:ext cx="864000" cy="504000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Ridge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3C75E9F-EB7A-77B4-1F42-5662C9183B65}"/>
              </a:ext>
            </a:extLst>
          </p:cNvPr>
          <p:cNvSpPr/>
          <p:nvPr/>
        </p:nvSpPr>
        <p:spPr>
          <a:xfrm>
            <a:off x="3596490" y="1080902"/>
            <a:ext cx="828000" cy="504000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SVR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90CC5CE7-2A4C-E41C-3129-DBA53E4C66D7}"/>
              </a:ext>
            </a:extLst>
          </p:cNvPr>
          <p:cNvSpPr/>
          <p:nvPr/>
        </p:nvSpPr>
        <p:spPr>
          <a:xfrm>
            <a:off x="2632365" y="1691242"/>
            <a:ext cx="864000" cy="449821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RF</a:t>
            </a: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E3B17318-DA03-8D1B-DA3D-A213DDC3052A}"/>
              </a:ext>
            </a:extLst>
          </p:cNvPr>
          <p:cNvSpPr/>
          <p:nvPr/>
        </p:nvSpPr>
        <p:spPr>
          <a:xfrm>
            <a:off x="3596490" y="1691241"/>
            <a:ext cx="828000" cy="450069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GBT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9783CB37-EF8D-9290-A22E-A7F1C59F2E47}"/>
              </a:ext>
            </a:extLst>
          </p:cNvPr>
          <p:cNvSpPr/>
          <p:nvPr/>
        </p:nvSpPr>
        <p:spPr>
          <a:xfrm>
            <a:off x="2632365" y="2247651"/>
            <a:ext cx="864000" cy="449821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XG</a:t>
            </a:r>
          </a:p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Boost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481885DA-76CF-C678-8D41-1471FEC65CF9}"/>
              </a:ext>
            </a:extLst>
          </p:cNvPr>
          <p:cNvSpPr/>
          <p:nvPr/>
        </p:nvSpPr>
        <p:spPr>
          <a:xfrm>
            <a:off x="3596490" y="2247650"/>
            <a:ext cx="828000" cy="450069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05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Light</a:t>
            </a:r>
          </a:p>
          <a:p>
            <a:pPr algn="r"/>
            <a:r>
              <a:rPr lang="en-US" altLang="zh-CN" sz="105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GBM</a:t>
            </a:r>
            <a:endParaRPr lang="zh-CN" altLang="en-US" sz="105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08C68B8-2601-B6B4-35D5-4417CFC431B6}"/>
              </a:ext>
            </a:extLst>
          </p:cNvPr>
          <p:cNvSpPr/>
          <p:nvPr/>
        </p:nvSpPr>
        <p:spPr>
          <a:xfrm>
            <a:off x="2632365" y="2749882"/>
            <a:ext cx="864000" cy="504000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BP-NN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805196A3-0C97-8E6E-9398-2D475FC0FED7}"/>
              </a:ext>
            </a:extLst>
          </p:cNvPr>
          <p:cNvSpPr/>
          <p:nvPr/>
        </p:nvSpPr>
        <p:spPr>
          <a:xfrm>
            <a:off x="3596490" y="2750129"/>
            <a:ext cx="828000" cy="504000"/>
          </a:xfrm>
          <a:prstGeom prst="roundRect">
            <a:avLst>
              <a:gd name="adj" fmla="val 11354"/>
            </a:avLst>
          </a:prstGeom>
          <a:solidFill>
            <a:schemeClr val="bg1"/>
          </a:solidFill>
          <a:ln>
            <a:solidFill>
              <a:srgbClr val="FBB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PSO-BP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29C46364-087F-2D3E-D113-F054248F6A13}"/>
                  </a:ext>
                </a:extLst>
              </p:cNvPr>
              <p:cNvSpPr/>
              <p:nvPr/>
            </p:nvSpPr>
            <p:spPr>
              <a:xfrm>
                <a:off x="2578727" y="3513507"/>
                <a:ext cx="1908000" cy="1008000"/>
              </a:xfrm>
              <a:prstGeom prst="roundRect">
                <a:avLst>
                  <a:gd name="adj" fmla="val 4081"/>
                </a:avLst>
              </a:prstGeom>
              <a:solidFill>
                <a:schemeClr val="bg1"/>
              </a:solidFill>
              <a:ln>
                <a:solidFill>
                  <a:srgbClr val="FBBE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zh-CN" sz="1400" b="1" dirty="0">
                    <a:solidFill>
                      <a:srgbClr val="F79646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Cost–sensitive model</a:t>
                </a:r>
                <a:endPara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GA-BP (</a:t>
                </a:r>
                <a:r>
                  <a:rPr lang="el-GR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τ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scan)</a:t>
                </a:r>
              </a:p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Asym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-BP</a:t>
                </a:r>
                <a:b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zh-CN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𝜏</m:t>
                      </m:r>
                      <m:r>
                        <a:rPr lang="zh-CN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0.10</m:t>
                          </m:r>
                          <m:r>
                            <a:rPr lang="zh-CN" altLang="en-US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，</m:t>
                          </m:r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0.15…0.5</m:t>
                          </m:r>
                        </m:e>
                      </m:d>
                    </m:oMath>
                  </m:oMathPara>
                </a14:m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29C46364-087F-2D3E-D113-F054248F6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727" y="3513507"/>
                <a:ext cx="1908000" cy="1008000"/>
              </a:xfrm>
              <a:prstGeom prst="roundRect">
                <a:avLst>
                  <a:gd name="adj" fmla="val 4081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BBE9A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6C6B3EDD-37D6-523E-867C-2E9A76531F6D}"/>
              </a:ext>
            </a:extLst>
          </p:cNvPr>
          <p:cNvSpPr/>
          <p:nvPr/>
        </p:nvSpPr>
        <p:spPr>
          <a:xfrm>
            <a:off x="4857381" y="770964"/>
            <a:ext cx="2340000" cy="1944000"/>
          </a:xfrm>
          <a:prstGeom prst="roundRect">
            <a:avLst>
              <a:gd name="adj" fmla="val 2413"/>
            </a:avLst>
          </a:prstGeom>
          <a:solidFill>
            <a:schemeClr val="bg1">
              <a:alpha val="39000"/>
            </a:schemeClr>
          </a:solidFill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Asymmetric GA-BP exploration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τ-parameter sensitivity analysis and performance evaluation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LOO-CV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Multi-metric evaluation</a:t>
            </a:r>
          </a:p>
          <a:p>
            <a:pPr algn="ctr"/>
            <a:endParaRPr lang="en-US" altLang="zh-CN" sz="1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B36AA3F4-F669-D420-2C61-45E6D5BFC023}"/>
              </a:ext>
            </a:extLst>
          </p:cNvPr>
          <p:cNvSpPr/>
          <p:nvPr/>
        </p:nvSpPr>
        <p:spPr>
          <a:xfrm>
            <a:off x="4862005" y="2881646"/>
            <a:ext cx="2340000" cy="1656000"/>
          </a:xfrm>
          <a:prstGeom prst="roundRect">
            <a:avLst>
              <a:gd name="adj" fmla="val 2413"/>
            </a:avLst>
          </a:prstGeom>
          <a:solidFill>
            <a:schemeClr val="bg1">
              <a:alpha val="39000"/>
            </a:schemeClr>
          </a:solidFill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Exogenous underestimation control methods</a:t>
            </a:r>
            <a:endParaRPr lang="zh-CN" altLang="en-US" sz="1400" b="1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BF1946FF-8A7B-22E9-BD99-324544319B85}"/>
              </a:ext>
            </a:extLst>
          </p:cNvPr>
          <p:cNvSpPr/>
          <p:nvPr/>
        </p:nvSpPr>
        <p:spPr>
          <a:xfrm>
            <a:off x="5001306" y="1949703"/>
            <a:ext cx="2068945" cy="692727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Conclusion: 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Asymmetric GA-BP exploration did not show a stable advantage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: 圆角 172">
                <a:extLst>
                  <a:ext uri="{FF2B5EF4-FFF2-40B4-BE49-F238E27FC236}">
                    <a16:creationId xmlns:a16="http://schemas.microsoft.com/office/drawing/2014/main" id="{0D458150-0191-3DBD-F49E-A042D9937A65}"/>
                  </a:ext>
                </a:extLst>
              </p:cNvPr>
              <p:cNvSpPr/>
              <p:nvPr/>
            </p:nvSpPr>
            <p:spPr>
              <a:xfrm>
                <a:off x="4930771" y="3385086"/>
                <a:ext cx="2212082" cy="424516"/>
              </a:xfrm>
              <a:prstGeom prst="roundRect">
                <a:avLst>
                  <a:gd name="adj" fmla="val 10375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Upper envelope ensemble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0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Noto Sans CJK SC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0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Noto Sans CJK SC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10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(</m:t>
                      </m:r>
                      <m:r>
                        <a:rPr lang="en-US" altLang="zh-CN" sz="10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𝑥</m:t>
                      </m:r>
                      <m:r>
                        <a:rPr lang="en-US" altLang="zh-CN" sz="10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)=</m:t>
                      </m:r>
                      <m:r>
                        <a:rPr lang="en-US" altLang="zh-CN" sz="10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Noto Sans CJK SC"/>
                          <a:cs typeface="Times New Roman" panose="02020603050405020304" pitchFamily="18" charset="0"/>
                        </a:rPr>
                        <m:t>𝑚𝑎𝑥</m:t>
                      </m:r>
                      <m:sSub>
                        <m:sSubPr>
                          <m:ctrlP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Noto Sans CJK SC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7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3" name="矩形: 圆角 172">
                <a:extLst>
                  <a:ext uri="{FF2B5EF4-FFF2-40B4-BE49-F238E27FC236}">
                    <a16:creationId xmlns:a16="http://schemas.microsoft.com/office/drawing/2014/main" id="{0D458150-0191-3DBD-F49E-A042D9937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771" y="3385086"/>
                <a:ext cx="2212082" cy="424516"/>
              </a:xfrm>
              <a:prstGeom prst="roundRect">
                <a:avLst>
                  <a:gd name="adj" fmla="val 10375"/>
                </a:avLst>
              </a:prstGeom>
              <a:blipFill>
                <a:blip r:embed="rId4"/>
                <a:stretch>
                  <a:fillRect b="-2778"/>
                </a:stretch>
              </a:blipFill>
              <a:ln>
                <a:solidFill>
                  <a:srgbClr val="FFC000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: 圆角 173">
                <a:extLst>
                  <a:ext uri="{FF2B5EF4-FFF2-40B4-BE49-F238E27FC236}">
                    <a16:creationId xmlns:a16="http://schemas.microsoft.com/office/drawing/2014/main" id="{2E55C486-34C9-9745-0718-756CD250A145}"/>
                  </a:ext>
                </a:extLst>
              </p:cNvPr>
              <p:cNvSpPr/>
              <p:nvPr/>
            </p:nvSpPr>
            <p:spPr>
              <a:xfrm>
                <a:off x="4930771" y="3929933"/>
                <a:ext cx="2193220" cy="561203"/>
              </a:xfrm>
              <a:prstGeom prst="roundRect">
                <a:avLst>
                  <a:gd name="adj" fmla="val 9491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Residual-quantile adjustment</a:t>
                </a:r>
              </a:p>
              <a:p>
                <a:pPr algn="ctr"/>
                <a:endParaRPr lang="en-US" altLang="zh-CN" sz="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2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𝑠𝑎𝑓𝑒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 i="1" ker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2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矩形: 圆角 173">
                <a:extLst>
                  <a:ext uri="{FF2B5EF4-FFF2-40B4-BE49-F238E27FC236}">
                    <a16:creationId xmlns:a16="http://schemas.microsoft.com/office/drawing/2014/main" id="{2E55C486-34C9-9745-0718-756CD250A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771" y="3929933"/>
                <a:ext cx="2193220" cy="561203"/>
              </a:xfrm>
              <a:prstGeom prst="roundRect">
                <a:avLst>
                  <a:gd name="adj" fmla="val 9491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C000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3A34A951-6D72-65AE-06C8-B38F46FDF494}"/>
              </a:ext>
            </a:extLst>
          </p:cNvPr>
          <p:cNvSpPr/>
          <p:nvPr/>
        </p:nvSpPr>
        <p:spPr>
          <a:xfrm>
            <a:off x="7546109" y="761728"/>
            <a:ext cx="2160000" cy="2258694"/>
          </a:xfrm>
          <a:prstGeom prst="roundRect">
            <a:avLst>
              <a:gd name="adj" fmla="val 4393"/>
            </a:avLst>
          </a:prstGeom>
          <a:solidFill>
            <a:schemeClr val="bg1">
              <a:alpha val="39000"/>
            </a:schemeClr>
          </a:solidFill>
          <a:ln>
            <a:solidFill>
              <a:srgbClr val="D1E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200" b="1" dirty="0">
                <a:solidFill>
                  <a:srgbClr val="4BACC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Accuracy metrics</a:t>
            </a:r>
            <a:endParaRPr lang="zh-CN" altLang="en-US" sz="1200" b="1" dirty="0">
              <a:solidFill>
                <a:srgbClr val="4BACC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3F8037FC-E0FD-A3CC-EDFF-C3EA001724AF}"/>
              </a:ext>
            </a:extLst>
          </p:cNvPr>
          <p:cNvSpPr/>
          <p:nvPr/>
        </p:nvSpPr>
        <p:spPr>
          <a:xfrm>
            <a:off x="7558022" y="3254129"/>
            <a:ext cx="2160000" cy="1141190"/>
          </a:xfrm>
          <a:prstGeom prst="roundRect">
            <a:avLst>
              <a:gd name="adj" fmla="val 4393"/>
            </a:avLst>
          </a:prstGeom>
          <a:solidFill>
            <a:schemeClr val="bg1">
              <a:alpha val="39000"/>
            </a:schemeClr>
          </a:solidFill>
          <a:ln>
            <a:solidFill>
              <a:srgbClr val="D1E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Integrated analysis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8BED249F-0CCA-CDBD-11B2-9B8581053F82}"/>
              </a:ext>
            </a:extLst>
          </p:cNvPr>
          <p:cNvSpPr/>
          <p:nvPr/>
        </p:nvSpPr>
        <p:spPr>
          <a:xfrm>
            <a:off x="7659928" y="1076082"/>
            <a:ext cx="957004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RMSE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3585130A-325A-A5DF-546A-E7A35F87C14E}"/>
              </a:ext>
            </a:extLst>
          </p:cNvPr>
          <p:cNvSpPr/>
          <p:nvPr/>
        </p:nvSpPr>
        <p:spPr>
          <a:xfrm>
            <a:off x="8707177" y="1076082"/>
            <a:ext cx="900000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3594D9D9-9B96-E44F-C034-05ED2A0C7AAB}"/>
              </a:ext>
            </a:extLst>
          </p:cNvPr>
          <p:cNvSpPr/>
          <p:nvPr/>
        </p:nvSpPr>
        <p:spPr>
          <a:xfrm>
            <a:off x="7666023" y="1564507"/>
            <a:ext cx="957005" cy="243201"/>
          </a:xfrm>
          <a:prstGeom prst="roundRect">
            <a:avLst>
              <a:gd name="adj" fmla="val 0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MAPE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2CCBB7DE-A715-5FAE-A94A-16E51D80C1D6}"/>
              </a:ext>
            </a:extLst>
          </p:cNvPr>
          <p:cNvSpPr/>
          <p:nvPr/>
        </p:nvSpPr>
        <p:spPr>
          <a:xfrm>
            <a:off x="8713273" y="1564507"/>
            <a:ext cx="900000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R²</a:t>
            </a: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3E828BC6-109D-5B4B-7E15-FA7A2782640B}"/>
              </a:ext>
            </a:extLst>
          </p:cNvPr>
          <p:cNvSpPr/>
          <p:nvPr/>
        </p:nvSpPr>
        <p:spPr>
          <a:xfrm>
            <a:off x="7666024" y="2052932"/>
            <a:ext cx="957004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UR</a:t>
            </a: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AC13BAB-B9DE-AAD3-BB87-514C87D678DA}"/>
              </a:ext>
            </a:extLst>
          </p:cNvPr>
          <p:cNvSpPr/>
          <p:nvPr/>
        </p:nvSpPr>
        <p:spPr>
          <a:xfrm>
            <a:off x="8713273" y="2052932"/>
            <a:ext cx="900000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MUM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9" name="矩形: 圆角 188">
            <a:extLst>
              <a:ext uri="{FF2B5EF4-FFF2-40B4-BE49-F238E27FC236}">
                <a16:creationId xmlns:a16="http://schemas.microsoft.com/office/drawing/2014/main" id="{FF27BFCD-E73D-4A34-13DF-728F52F02EC0}"/>
              </a:ext>
            </a:extLst>
          </p:cNvPr>
          <p:cNvSpPr/>
          <p:nvPr/>
        </p:nvSpPr>
        <p:spPr>
          <a:xfrm>
            <a:off x="10029607" y="761728"/>
            <a:ext cx="1980000" cy="3806307"/>
          </a:xfrm>
          <a:prstGeom prst="roundRect">
            <a:avLst>
              <a:gd name="adj" fmla="val 3606"/>
            </a:avLst>
          </a:prstGeom>
          <a:solidFill>
            <a:schemeClr val="bg1">
              <a:alpha val="39000"/>
            </a:schemeClr>
          </a:solidFill>
          <a:ln>
            <a:solidFill>
              <a:srgbClr val="CA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Interpretation &amp; decision</a:t>
            </a:r>
            <a:endParaRPr lang="zh-CN" altLang="en-US" sz="1200" b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86FEEADF-8196-7912-7174-F88F255DCAA1}"/>
              </a:ext>
            </a:extLst>
          </p:cNvPr>
          <p:cNvSpPr/>
          <p:nvPr/>
        </p:nvSpPr>
        <p:spPr>
          <a:xfrm>
            <a:off x="7785421" y="3765612"/>
            <a:ext cx="1656522" cy="396000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Pareto analysis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3" name="箭头: 右 192">
            <a:extLst>
              <a:ext uri="{FF2B5EF4-FFF2-40B4-BE49-F238E27FC236}">
                <a16:creationId xmlns:a16="http://schemas.microsoft.com/office/drawing/2014/main" id="{70E65171-083A-12A8-AEF0-316301D2981C}"/>
              </a:ext>
            </a:extLst>
          </p:cNvPr>
          <p:cNvSpPr/>
          <p:nvPr/>
        </p:nvSpPr>
        <p:spPr>
          <a:xfrm>
            <a:off x="2161893" y="310506"/>
            <a:ext cx="396000" cy="233079"/>
          </a:xfrm>
          <a:prstGeom prst="rightArrow">
            <a:avLst/>
          </a:prstGeom>
          <a:solidFill>
            <a:srgbClr val="81A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箭头: 右 193">
            <a:extLst>
              <a:ext uri="{FF2B5EF4-FFF2-40B4-BE49-F238E27FC236}">
                <a16:creationId xmlns:a16="http://schemas.microsoft.com/office/drawing/2014/main" id="{56B7BE83-A344-F7F4-87E4-CD31E136A0DF}"/>
              </a:ext>
            </a:extLst>
          </p:cNvPr>
          <p:cNvSpPr/>
          <p:nvPr/>
        </p:nvSpPr>
        <p:spPr>
          <a:xfrm>
            <a:off x="4515909" y="310506"/>
            <a:ext cx="396000" cy="233079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箭头: 右 194">
            <a:extLst>
              <a:ext uri="{FF2B5EF4-FFF2-40B4-BE49-F238E27FC236}">
                <a16:creationId xmlns:a16="http://schemas.microsoft.com/office/drawing/2014/main" id="{3A3314C6-A157-16A1-DA78-1BA4B5C83468}"/>
              </a:ext>
            </a:extLst>
          </p:cNvPr>
          <p:cNvSpPr/>
          <p:nvPr/>
        </p:nvSpPr>
        <p:spPr>
          <a:xfrm>
            <a:off x="7173769" y="310506"/>
            <a:ext cx="396000" cy="23307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箭头: 右 195">
            <a:extLst>
              <a:ext uri="{FF2B5EF4-FFF2-40B4-BE49-F238E27FC236}">
                <a16:creationId xmlns:a16="http://schemas.microsoft.com/office/drawing/2014/main" id="{E950DB73-22BA-1BBE-942E-7E582205EFCF}"/>
              </a:ext>
            </a:extLst>
          </p:cNvPr>
          <p:cNvSpPr/>
          <p:nvPr/>
        </p:nvSpPr>
        <p:spPr>
          <a:xfrm>
            <a:off x="9679707" y="310506"/>
            <a:ext cx="396000" cy="233079"/>
          </a:xfrm>
          <a:prstGeom prst="rightArrow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BE7C512-BD80-3824-9356-B88C4711139B}"/>
              </a:ext>
            </a:extLst>
          </p:cNvPr>
          <p:cNvSpPr/>
          <p:nvPr/>
        </p:nvSpPr>
        <p:spPr>
          <a:xfrm>
            <a:off x="10123055" y="1044388"/>
            <a:ext cx="1800000" cy="638659"/>
          </a:xfrm>
          <a:prstGeom prst="roundRect">
            <a:avLst/>
          </a:prstGeom>
          <a:solidFill>
            <a:schemeClr val="bg1"/>
          </a:solidFill>
          <a:ln>
            <a:solidFill>
              <a:srgbClr val="CA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SHAP analysis</a:t>
            </a:r>
          </a:p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Global feature importance Local interpretation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2BB5BB85-0A2E-77D5-5920-DE75BD190543}"/>
              </a:ext>
            </a:extLst>
          </p:cNvPr>
          <p:cNvSpPr/>
          <p:nvPr/>
        </p:nvSpPr>
        <p:spPr>
          <a:xfrm>
            <a:off x="10119363" y="1880137"/>
            <a:ext cx="1800000" cy="738637"/>
          </a:xfrm>
          <a:prstGeom prst="roundRect">
            <a:avLst/>
          </a:prstGeom>
          <a:solidFill>
            <a:schemeClr val="bg1"/>
          </a:solidFill>
          <a:ln>
            <a:solidFill>
              <a:srgbClr val="CA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Key driver identification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Identify the key factors with the greatest impact on cost and support engineering decisions</a:t>
            </a:r>
            <a:endParaRPr lang="zh-CN" altLang="en-US" sz="9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B8AB0866-A36E-7FAF-5D96-C073AAD3DAAF}"/>
              </a:ext>
            </a:extLst>
          </p:cNvPr>
          <p:cNvSpPr/>
          <p:nvPr/>
        </p:nvSpPr>
        <p:spPr>
          <a:xfrm>
            <a:off x="10123055" y="2815864"/>
            <a:ext cx="1800000" cy="805608"/>
          </a:xfrm>
          <a:prstGeom prst="roundRect">
            <a:avLst/>
          </a:prstGeom>
          <a:solidFill>
            <a:schemeClr val="bg1"/>
          </a:solidFill>
          <a:ln>
            <a:solidFill>
              <a:srgbClr val="CA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Risk–accuracy trade-off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Compare the performance of different methods under different risk preferences and identify the optimal solution</a:t>
            </a:r>
            <a:endParaRPr lang="zh-CN" altLang="en-US" sz="9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45AA48C7-7881-D06A-20BA-3FA83D148238}"/>
              </a:ext>
            </a:extLst>
          </p:cNvPr>
          <p:cNvSpPr/>
          <p:nvPr/>
        </p:nvSpPr>
        <p:spPr>
          <a:xfrm>
            <a:off x="10153901" y="3818563"/>
            <a:ext cx="1800000" cy="458380"/>
          </a:xfrm>
          <a:prstGeom prst="roundRect">
            <a:avLst/>
          </a:prstGeom>
          <a:solidFill>
            <a:schemeClr val="bg1"/>
          </a:solidFill>
          <a:ln>
            <a:solidFill>
              <a:srgbClr val="CA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Engineering decision support</a:t>
            </a:r>
          </a:p>
          <a:p>
            <a:pPr algn="ctr"/>
            <a:endParaRPr lang="en-US" altLang="zh-CN" sz="9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98" name="图形 197" descr="信号塔">
            <a:extLst>
              <a:ext uri="{FF2B5EF4-FFF2-40B4-BE49-F238E27FC236}">
                <a16:creationId xmlns:a16="http://schemas.microsoft.com/office/drawing/2014/main" id="{12C001D9-ED67-7B48-CDC9-30A66D62C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302" y="794275"/>
            <a:ext cx="504000" cy="504000"/>
          </a:xfrm>
          <a:prstGeom prst="rect">
            <a:avLst/>
          </a:prstGeom>
        </p:spPr>
      </p:pic>
      <p:pic>
        <p:nvPicPr>
          <p:cNvPr id="200" name="图形 199" descr="研究">
            <a:extLst>
              <a:ext uri="{FF2B5EF4-FFF2-40B4-BE49-F238E27FC236}">
                <a16:creationId xmlns:a16="http://schemas.microsoft.com/office/drawing/2014/main" id="{3DB49410-4ACB-88B7-C60F-FFFAA0BA8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773" y="1683047"/>
            <a:ext cx="504000" cy="504000"/>
          </a:xfrm>
          <a:prstGeom prst="rect">
            <a:avLst/>
          </a:prstGeom>
        </p:spPr>
      </p:pic>
      <p:pic>
        <p:nvPicPr>
          <p:cNvPr id="204" name="图形 203" descr="月历">
            <a:extLst>
              <a:ext uri="{FF2B5EF4-FFF2-40B4-BE49-F238E27FC236}">
                <a16:creationId xmlns:a16="http://schemas.microsoft.com/office/drawing/2014/main" id="{60760BF3-B529-4107-FEBB-979437956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438" y="2610702"/>
            <a:ext cx="504000" cy="504000"/>
          </a:xfrm>
          <a:prstGeom prst="rect">
            <a:avLst/>
          </a:prstGeom>
        </p:spPr>
      </p:pic>
      <p:pic>
        <p:nvPicPr>
          <p:cNvPr id="206" name="图形 205" descr="数据库">
            <a:extLst>
              <a:ext uri="{FF2B5EF4-FFF2-40B4-BE49-F238E27FC236}">
                <a16:creationId xmlns:a16="http://schemas.microsoft.com/office/drawing/2014/main" id="{94AF7EBE-A24B-6C7A-ADD9-15D0596BF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073" y="3581655"/>
            <a:ext cx="360000" cy="360000"/>
          </a:xfrm>
          <a:prstGeom prst="rect">
            <a:avLst/>
          </a:prstGeom>
        </p:spPr>
      </p:pic>
      <p:pic>
        <p:nvPicPr>
          <p:cNvPr id="208" name="图形 207" descr="上升趋势">
            <a:extLst>
              <a:ext uri="{FF2B5EF4-FFF2-40B4-BE49-F238E27FC236}">
                <a16:creationId xmlns:a16="http://schemas.microsoft.com/office/drawing/2014/main" id="{D16E2BCC-A97B-C96C-E77C-347BBBD59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3400" y="1107830"/>
            <a:ext cx="432000" cy="432000"/>
          </a:xfrm>
          <a:prstGeom prst="rect">
            <a:avLst/>
          </a:prstGeom>
        </p:spPr>
      </p:pic>
      <p:pic>
        <p:nvPicPr>
          <p:cNvPr id="210" name="图形 209" descr="统计信息 RTL">
            <a:extLst>
              <a:ext uri="{FF2B5EF4-FFF2-40B4-BE49-F238E27FC236}">
                <a16:creationId xmlns:a16="http://schemas.microsoft.com/office/drawing/2014/main" id="{CFB00575-7FE0-71CF-C4DA-4FB5C6D437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64076" y="1116655"/>
            <a:ext cx="432000" cy="432000"/>
          </a:xfrm>
          <a:prstGeom prst="rect">
            <a:avLst/>
          </a:prstGeom>
        </p:spPr>
      </p:pic>
      <p:pic>
        <p:nvPicPr>
          <p:cNvPr id="212" name="图形 211" descr="枞树">
            <a:extLst>
              <a:ext uri="{FF2B5EF4-FFF2-40B4-BE49-F238E27FC236}">
                <a16:creationId xmlns:a16="http://schemas.microsoft.com/office/drawing/2014/main" id="{1369DE2B-F979-6EA8-37FF-23B00CB4D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32365" y="1708712"/>
            <a:ext cx="432000" cy="432000"/>
          </a:xfrm>
          <a:prstGeom prst="rect">
            <a:avLst/>
          </a:prstGeom>
        </p:spPr>
      </p:pic>
      <p:pic>
        <p:nvPicPr>
          <p:cNvPr id="214" name="图形 213" descr="决策图">
            <a:extLst>
              <a:ext uri="{FF2B5EF4-FFF2-40B4-BE49-F238E27FC236}">
                <a16:creationId xmlns:a16="http://schemas.microsoft.com/office/drawing/2014/main" id="{DB3294C4-2496-1D5E-FB12-C5EC20F8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12557" y="1700152"/>
            <a:ext cx="432000" cy="432000"/>
          </a:xfrm>
          <a:prstGeom prst="rect">
            <a:avLst/>
          </a:prstGeom>
        </p:spPr>
      </p:pic>
      <p:pic>
        <p:nvPicPr>
          <p:cNvPr id="216" name="图形 215" descr="带齿轮的头部">
            <a:extLst>
              <a:ext uri="{FF2B5EF4-FFF2-40B4-BE49-F238E27FC236}">
                <a16:creationId xmlns:a16="http://schemas.microsoft.com/office/drawing/2014/main" id="{80AF9C47-0120-D6EF-B158-98D172DAC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32365" y="2265472"/>
            <a:ext cx="432000" cy="432000"/>
          </a:xfrm>
          <a:prstGeom prst="rect">
            <a:avLst/>
          </a:prstGeom>
        </p:spPr>
      </p:pic>
      <p:pic>
        <p:nvPicPr>
          <p:cNvPr id="218" name="图形 217" descr="社交网络">
            <a:extLst>
              <a:ext uri="{FF2B5EF4-FFF2-40B4-BE49-F238E27FC236}">
                <a16:creationId xmlns:a16="http://schemas.microsoft.com/office/drawing/2014/main" id="{29A7741C-B9A3-8E74-C61F-CF871F703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12557" y="2875882"/>
            <a:ext cx="252000" cy="252000"/>
          </a:xfrm>
          <a:prstGeom prst="rect">
            <a:avLst/>
          </a:prstGeom>
        </p:spPr>
      </p:pic>
      <p:pic>
        <p:nvPicPr>
          <p:cNvPr id="220" name="图形 219" descr="连接">
            <a:extLst>
              <a:ext uri="{FF2B5EF4-FFF2-40B4-BE49-F238E27FC236}">
                <a16:creationId xmlns:a16="http://schemas.microsoft.com/office/drawing/2014/main" id="{38BD548C-6F17-26D9-972A-501EFA871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32365" y="2862702"/>
            <a:ext cx="324000" cy="324000"/>
          </a:xfrm>
          <a:prstGeom prst="rect">
            <a:avLst/>
          </a:prstGeom>
        </p:spPr>
      </p:pic>
      <p:pic>
        <p:nvPicPr>
          <p:cNvPr id="222" name="图形 221" descr="谷物">
            <a:extLst>
              <a:ext uri="{FF2B5EF4-FFF2-40B4-BE49-F238E27FC236}">
                <a16:creationId xmlns:a16="http://schemas.microsoft.com/office/drawing/2014/main" id="{44540BA5-7871-5401-86DC-AF65A7C06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03152" y="2265719"/>
            <a:ext cx="432000" cy="432000"/>
          </a:xfrm>
          <a:prstGeom prst="rect">
            <a:avLst/>
          </a:prstGeom>
        </p:spPr>
      </p:pic>
      <p:pic>
        <p:nvPicPr>
          <p:cNvPr id="238" name="图形 237" descr="正义天平">
            <a:extLst>
              <a:ext uri="{FF2B5EF4-FFF2-40B4-BE49-F238E27FC236}">
                <a16:creationId xmlns:a16="http://schemas.microsoft.com/office/drawing/2014/main" id="{9E7F5EA1-CB8A-865E-2431-135F5FD94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19180" y="3747612"/>
            <a:ext cx="432000" cy="4320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A84131AF-D9CC-CF25-025C-FBA3DE22DA5A}"/>
              </a:ext>
            </a:extLst>
          </p:cNvPr>
          <p:cNvSpPr/>
          <p:nvPr/>
        </p:nvSpPr>
        <p:spPr>
          <a:xfrm>
            <a:off x="7662390" y="2541358"/>
            <a:ext cx="957004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02A735-026F-A085-AD2B-430E3C21A445}"/>
              </a:ext>
            </a:extLst>
          </p:cNvPr>
          <p:cNvSpPr/>
          <p:nvPr/>
        </p:nvSpPr>
        <p:spPr>
          <a:xfrm>
            <a:off x="8703927" y="2541357"/>
            <a:ext cx="900000" cy="243201"/>
          </a:xfrm>
          <a:prstGeom prst="roundRect">
            <a:avLst>
              <a:gd name="adj" fmla="val 11354"/>
            </a:avLst>
          </a:prstGeom>
          <a:solidFill>
            <a:schemeClr val="bg1">
              <a:alpha val="39000"/>
            </a:schemeClr>
          </a:solidFill>
          <a:ln>
            <a:solidFill>
              <a:srgbClr val="D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CWUS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7511</TotalTime>
  <Words>178</Words>
  <Application>Microsoft Office PowerPoint</Application>
  <PresentationFormat>宽屏</PresentationFormat>
  <Paragraphs>62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Cambria Math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朱子豪</dc:creator>
  <cp:keywords/>
  <dc:description>generated using python-pptx</dc:description>
  <cp:lastModifiedBy>ZH Z</cp:lastModifiedBy>
  <cp:revision>16</cp:revision>
  <dcterms:created xsi:type="dcterms:W3CDTF">2013-01-27T09:14:16Z</dcterms:created>
  <dcterms:modified xsi:type="dcterms:W3CDTF">2026-10-23T21:53:44Z</dcterms:modified>
  <cp:category/>
</cp:coreProperties>
</file>