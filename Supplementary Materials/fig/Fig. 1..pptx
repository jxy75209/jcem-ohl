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79646"/>
    <a:srgbClr val="4BACC6"/>
    <a:srgbClr val="81A361"/>
    <a:srgbClr val="CAE0F4"/>
    <a:srgbClr val="D7E9EC"/>
    <a:srgbClr val="D1EAEB"/>
    <a:srgbClr val="FBBE9A"/>
    <a:srgbClr val="D9E7C7"/>
    <a:srgbClr val="ECF2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00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854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9E7F60-F5D9-4FE3-8F91-9521914343E0}" type="datetimeFigureOut">
              <a:rPr lang="zh-CN" altLang="en-US" smtClean="0"/>
              <a:t>2026/6/22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FDB710-2870-4472-8FC6-7ADE545FE42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182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FDB710-2870-4472-8FC6-7ADE545FE42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4440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8.svg"/><Relationship Id="rId18" Type="http://schemas.openxmlformats.org/officeDocument/2006/relationships/image" Target="../media/image13.svg"/><Relationship Id="rId3" Type="http://schemas.openxmlformats.org/officeDocument/2006/relationships/image" Target="../media/image1.png"/><Relationship Id="rId21" Type="http://schemas.openxmlformats.org/officeDocument/2006/relationships/image" Target="../media/image16.svg"/><Relationship Id="rId7" Type="http://schemas.openxmlformats.org/officeDocument/2006/relationships/image" Target="../media/image2.svg"/><Relationship Id="rId12" Type="http://schemas.openxmlformats.org/officeDocument/2006/relationships/image" Target="../media/image7.svg"/><Relationship Id="rId17" Type="http://schemas.openxmlformats.org/officeDocument/2006/relationships/image" Target="../media/image1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1.svg"/><Relationship Id="rId20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svg"/><Relationship Id="rId11" Type="http://schemas.openxmlformats.org/officeDocument/2006/relationships/image" Target="../media/image6.svg"/><Relationship Id="rId24" Type="http://schemas.openxmlformats.org/officeDocument/2006/relationships/image" Target="../media/image19.sv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23" Type="http://schemas.openxmlformats.org/officeDocument/2006/relationships/image" Target="../media/image18.svg"/><Relationship Id="rId10" Type="http://schemas.openxmlformats.org/officeDocument/2006/relationships/image" Target="../media/image5.svg"/><Relationship Id="rId19" Type="http://schemas.openxmlformats.org/officeDocument/2006/relationships/image" Target="../media/image14.svg"/><Relationship Id="rId4" Type="http://schemas.openxmlformats.org/officeDocument/2006/relationships/image" Target="../media/image2.png"/><Relationship Id="rId9" Type="http://schemas.openxmlformats.org/officeDocument/2006/relationships/image" Target="../media/image4.svg"/><Relationship Id="rId14" Type="http://schemas.openxmlformats.org/officeDocument/2006/relationships/image" Target="../media/image9.svg"/><Relationship Id="rId22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矩形: 圆角 141">
            <a:extLst>
              <a:ext uri="{FF2B5EF4-FFF2-40B4-BE49-F238E27FC236}">
                <a16:creationId xmlns:a16="http://schemas.microsoft.com/office/drawing/2014/main" id="{9C1FC391-22A6-147A-0876-1BF6A159EFFD}"/>
              </a:ext>
            </a:extLst>
          </p:cNvPr>
          <p:cNvSpPr/>
          <p:nvPr/>
        </p:nvSpPr>
        <p:spPr>
          <a:xfrm>
            <a:off x="120073" y="92363"/>
            <a:ext cx="2088000" cy="4536000"/>
          </a:xfrm>
          <a:prstGeom prst="roundRect">
            <a:avLst>
              <a:gd name="adj" fmla="val 3396"/>
            </a:avLst>
          </a:prstGeom>
          <a:solidFill>
            <a:srgbClr val="EFF5E7">
              <a:alpha val="82000"/>
            </a:srgbClr>
          </a:solidFill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1. Data preparation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3" name="矩形: 圆角 142">
            <a:extLst>
              <a:ext uri="{FF2B5EF4-FFF2-40B4-BE49-F238E27FC236}">
                <a16:creationId xmlns:a16="http://schemas.microsoft.com/office/drawing/2014/main" id="{6927A19C-66F9-1296-01A4-0844CCE563D8}"/>
              </a:ext>
            </a:extLst>
          </p:cNvPr>
          <p:cNvSpPr/>
          <p:nvPr/>
        </p:nvSpPr>
        <p:spPr>
          <a:xfrm>
            <a:off x="2470727" y="92363"/>
            <a:ext cx="2124000" cy="4536000"/>
          </a:xfrm>
          <a:prstGeom prst="roundRect">
            <a:avLst>
              <a:gd name="adj" fmla="val 3396"/>
            </a:avLst>
          </a:prstGeom>
          <a:solidFill>
            <a:srgbClr val="FEF1E9">
              <a:alpha val="82000"/>
            </a:srgbClr>
          </a:solidFill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2. Baseline prediction models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4" name="矩形: 圆角 143">
            <a:extLst>
              <a:ext uri="{FF2B5EF4-FFF2-40B4-BE49-F238E27FC236}">
                <a16:creationId xmlns:a16="http://schemas.microsoft.com/office/drawing/2014/main" id="{5C794CDF-E9EC-C365-A65B-2D9BCECDA0E3}"/>
              </a:ext>
            </a:extLst>
          </p:cNvPr>
          <p:cNvSpPr/>
          <p:nvPr/>
        </p:nvSpPr>
        <p:spPr>
          <a:xfrm>
            <a:off x="4802542" y="92363"/>
            <a:ext cx="2466475" cy="4536000"/>
          </a:xfrm>
          <a:prstGeom prst="roundRect">
            <a:avLst>
              <a:gd name="adj" fmla="val 3396"/>
            </a:avLst>
          </a:prstGeom>
          <a:solidFill>
            <a:srgbClr val="FEF7E9">
              <a:alpha val="82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 Underestimation risk control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5" name="矩形: 圆角 144">
            <a:extLst>
              <a:ext uri="{FF2B5EF4-FFF2-40B4-BE49-F238E27FC236}">
                <a16:creationId xmlns:a16="http://schemas.microsoft.com/office/drawing/2014/main" id="{596173AD-3356-5FB8-F163-1FDA99FC6B11}"/>
              </a:ext>
            </a:extLst>
          </p:cNvPr>
          <p:cNvSpPr/>
          <p:nvPr/>
        </p:nvSpPr>
        <p:spPr>
          <a:xfrm>
            <a:off x="7476831" y="92363"/>
            <a:ext cx="2304000" cy="4536000"/>
          </a:xfrm>
          <a:prstGeom prst="roundRect">
            <a:avLst>
              <a:gd name="adj" fmla="val 3396"/>
            </a:avLst>
          </a:prstGeom>
          <a:solidFill>
            <a:srgbClr val="EEF7F8">
              <a:alpha val="82000"/>
            </a:srgbClr>
          </a:solidFill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4. Multi-metric evaluation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6" name="矩形: 圆角 145">
            <a:extLst>
              <a:ext uri="{FF2B5EF4-FFF2-40B4-BE49-F238E27FC236}">
                <a16:creationId xmlns:a16="http://schemas.microsoft.com/office/drawing/2014/main" id="{F0A610C8-9ACB-5942-1FA0-842BAE4831C4}"/>
              </a:ext>
            </a:extLst>
          </p:cNvPr>
          <p:cNvSpPr/>
          <p:nvPr/>
        </p:nvSpPr>
        <p:spPr>
          <a:xfrm>
            <a:off x="9957363" y="92363"/>
            <a:ext cx="2124000" cy="4536000"/>
          </a:xfrm>
          <a:prstGeom prst="roundRect">
            <a:avLst>
              <a:gd name="adj" fmla="val 3396"/>
            </a:avLst>
          </a:prstGeom>
          <a:solidFill>
            <a:srgbClr val="ECF2FA">
              <a:alpha val="82000"/>
            </a:srgb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5. Interpretation and decision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D4570FDF-DB26-132A-8491-54867A93622F}"/>
              </a:ext>
            </a:extLst>
          </p:cNvPr>
          <p:cNvSpPr/>
          <p:nvPr/>
        </p:nvSpPr>
        <p:spPr>
          <a:xfrm>
            <a:off x="228073" y="770965"/>
            <a:ext cx="1872000" cy="540000"/>
          </a:xfrm>
          <a:prstGeom prst="roundRect">
            <a:avLst/>
          </a:prstGeom>
          <a:solidFill>
            <a:schemeClr val="bg1">
              <a:alpha val="39000"/>
            </a:schemeClr>
          </a:solidFill>
          <a:ln>
            <a:solidFill>
              <a:srgbClr val="D9E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44 OHL projects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矩形: 圆角 155">
            <a:extLst>
              <a:ext uri="{FF2B5EF4-FFF2-40B4-BE49-F238E27FC236}">
                <a16:creationId xmlns:a16="http://schemas.microsoft.com/office/drawing/2014/main" id="{1BA0E896-1F46-C7AB-7ED8-0D32EF2512A4}"/>
              </a:ext>
            </a:extLst>
          </p:cNvPr>
          <p:cNvSpPr/>
          <p:nvPr/>
        </p:nvSpPr>
        <p:spPr>
          <a:xfrm>
            <a:off x="228073" y="1681834"/>
            <a:ext cx="1872000" cy="540000"/>
          </a:xfrm>
          <a:prstGeom prst="roundRect">
            <a:avLst/>
          </a:prstGeom>
          <a:solidFill>
            <a:schemeClr val="bg1">
              <a:alpha val="39000"/>
            </a:schemeClr>
          </a:solidFill>
          <a:ln>
            <a:solidFill>
              <a:srgbClr val="D9E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Heavy-tailed data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9708302A-AEF8-744E-2E30-716B340B8B95}"/>
              </a:ext>
            </a:extLst>
          </p:cNvPr>
          <p:cNvSpPr/>
          <p:nvPr/>
        </p:nvSpPr>
        <p:spPr>
          <a:xfrm>
            <a:off x="236631" y="2592702"/>
            <a:ext cx="1872000" cy="540000"/>
          </a:xfrm>
          <a:prstGeom prst="roundRect">
            <a:avLst/>
          </a:prstGeom>
          <a:solidFill>
            <a:schemeClr val="bg1">
              <a:alpha val="39000"/>
            </a:schemeClr>
          </a:solidFill>
          <a:ln>
            <a:solidFill>
              <a:srgbClr val="D9E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altLang="zh-CN" sz="11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15 input variables</a:t>
            </a:r>
          </a:p>
          <a:p>
            <a:pPr algn="ctr"/>
            <a:endParaRPr lang="zh-CN" altLang="en-US" sz="11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9" name="矩形: 圆角 158">
            <a:extLst>
              <a:ext uri="{FF2B5EF4-FFF2-40B4-BE49-F238E27FC236}">
                <a16:creationId xmlns:a16="http://schemas.microsoft.com/office/drawing/2014/main" id="{4489587B-125D-ACD3-DC00-4EE107EE5ABB}"/>
              </a:ext>
            </a:extLst>
          </p:cNvPr>
          <p:cNvSpPr/>
          <p:nvPr/>
        </p:nvSpPr>
        <p:spPr>
          <a:xfrm>
            <a:off x="228073" y="3563655"/>
            <a:ext cx="1872000" cy="900000"/>
          </a:xfrm>
          <a:prstGeom prst="roundRect">
            <a:avLst/>
          </a:prstGeom>
          <a:solidFill>
            <a:schemeClr val="bg1">
              <a:alpha val="39000"/>
            </a:schemeClr>
          </a:solidFill>
          <a:ln>
            <a:solidFill>
              <a:srgbClr val="D9E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Data preprocessing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Missing value handling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Z-score normalization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Feature harmonization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0" name="矩形: 圆角 159">
            <a:extLst>
              <a:ext uri="{FF2B5EF4-FFF2-40B4-BE49-F238E27FC236}">
                <a16:creationId xmlns:a16="http://schemas.microsoft.com/office/drawing/2014/main" id="{33C8A4AD-96D1-6A6C-2FE6-31A2F5907031}"/>
              </a:ext>
            </a:extLst>
          </p:cNvPr>
          <p:cNvSpPr/>
          <p:nvPr/>
        </p:nvSpPr>
        <p:spPr>
          <a:xfrm>
            <a:off x="2578727" y="761729"/>
            <a:ext cx="1908000" cy="2592000"/>
          </a:xfrm>
          <a:prstGeom prst="roundRect">
            <a:avLst>
              <a:gd name="adj" fmla="val 4081"/>
            </a:avLst>
          </a:prstGeom>
          <a:solidFill>
            <a:schemeClr val="bg1">
              <a:alpha val="39000"/>
            </a:schemeClr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b="1" dirty="0">
                <a:solidFill>
                  <a:srgbClr val="F7964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8 benchmark models</a:t>
            </a:r>
            <a:endParaRPr lang="zh-CN" altLang="en-US" sz="1400" b="1" dirty="0">
              <a:solidFill>
                <a:srgbClr val="F79646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1" name="矩形: 圆角 160">
            <a:extLst>
              <a:ext uri="{FF2B5EF4-FFF2-40B4-BE49-F238E27FC236}">
                <a16:creationId xmlns:a16="http://schemas.microsoft.com/office/drawing/2014/main" id="{2896913F-EEE1-9E56-C13B-298853DB10A3}"/>
              </a:ext>
            </a:extLst>
          </p:cNvPr>
          <p:cNvSpPr/>
          <p:nvPr/>
        </p:nvSpPr>
        <p:spPr>
          <a:xfrm>
            <a:off x="2632365" y="1080655"/>
            <a:ext cx="864000" cy="504000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Ridge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2" name="矩形: 圆角 161">
            <a:extLst>
              <a:ext uri="{FF2B5EF4-FFF2-40B4-BE49-F238E27FC236}">
                <a16:creationId xmlns:a16="http://schemas.microsoft.com/office/drawing/2014/main" id="{F3C75E9F-EB7A-77B4-1F42-5662C9183B65}"/>
              </a:ext>
            </a:extLst>
          </p:cNvPr>
          <p:cNvSpPr/>
          <p:nvPr/>
        </p:nvSpPr>
        <p:spPr>
          <a:xfrm>
            <a:off x="3596490" y="1080902"/>
            <a:ext cx="828000" cy="504000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SVR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3" name="矩形: 圆角 162">
            <a:extLst>
              <a:ext uri="{FF2B5EF4-FFF2-40B4-BE49-F238E27FC236}">
                <a16:creationId xmlns:a16="http://schemas.microsoft.com/office/drawing/2014/main" id="{90CC5CE7-2A4C-E41C-3129-DBA53E4C66D7}"/>
              </a:ext>
            </a:extLst>
          </p:cNvPr>
          <p:cNvSpPr/>
          <p:nvPr/>
        </p:nvSpPr>
        <p:spPr>
          <a:xfrm>
            <a:off x="2632365" y="1691242"/>
            <a:ext cx="864000" cy="449821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RF</a:t>
            </a:r>
          </a:p>
        </p:txBody>
      </p:sp>
      <p:sp>
        <p:nvSpPr>
          <p:cNvPr id="164" name="矩形: 圆角 163">
            <a:extLst>
              <a:ext uri="{FF2B5EF4-FFF2-40B4-BE49-F238E27FC236}">
                <a16:creationId xmlns:a16="http://schemas.microsoft.com/office/drawing/2014/main" id="{E3B17318-DA03-8D1B-DA3D-A213DDC3052A}"/>
              </a:ext>
            </a:extLst>
          </p:cNvPr>
          <p:cNvSpPr/>
          <p:nvPr/>
        </p:nvSpPr>
        <p:spPr>
          <a:xfrm>
            <a:off x="3596490" y="1691241"/>
            <a:ext cx="828000" cy="450069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GBT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5" name="矩形: 圆角 164">
            <a:extLst>
              <a:ext uri="{FF2B5EF4-FFF2-40B4-BE49-F238E27FC236}">
                <a16:creationId xmlns:a16="http://schemas.microsoft.com/office/drawing/2014/main" id="{9783CB37-EF8D-9290-A22E-A7F1C59F2E47}"/>
              </a:ext>
            </a:extLst>
          </p:cNvPr>
          <p:cNvSpPr/>
          <p:nvPr/>
        </p:nvSpPr>
        <p:spPr>
          <a:xfrm>
            <a:off x="2632365" y="2247651"/>
            <a:ext cx="864000" cy="449821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XG</a:t>
            </a:r>
          </a:p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Boost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481885DA-76CF-C678-8D41-1471FEC65CF9}"/>
              </a:ext>
            </a:extLst>
          </p:cNvPr>
          <p:cNvSpPr/>
          <p:nvPr/>
        </p:nvSpPr>
        <p:spPr>
          <a:xfrm>
            <a:off x="3596490" y="2247650"/>
            <a:ext cx="828000" cy="450069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05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Light</a:t>
            </a:r>
          </a:p>
          <a:p>
            <a:pPr algn="r"/>
            <a:r>
              <a:rPr lang="en-US" altLang="zh-CN" sz="105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GBM</a:t>
            </a:r>
            <a:endParaRPr lang="zh-CN" altLang="en-US" sz="105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08C68B8-2601-B6B4-35D5-4417CFC431B6}"/>
              </a:ext>
            </a:extLst>
          </p:cNvPr>
          <p:cNvSpPr/>
          <p:nvPr/>
        </p:nvSpPr>
        <p:spPr>
          <a:xfrm>
            <a:off x="2632365" y="2749882"/>
            <a:ext cx="864000" cy="504000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BP-NN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8" name="矩形: 圆角 167">
            <a:extLst>
              <a:ext uri="{FF2B5EF4-FFF2-40B4-BE49-F238E27FC236}">
                <a16:creationId xmlns:a16="http://schemas.microsoft.com/office/drawing/2014/main" id="{805196A3-0C97-8E6E-9398-2D475FC0FED7}"/>
              </a:ext>
            </a:extLst>
          </p:cNvPr>
          <p:cNvSpPr/>
          <p:nvPr/>
        </p:nvSpPr>
        <p:spPr>
          <a:xfrm>
            <a:off x="3596490" y="2750129"/>
            <a:ext cx="828000" cy="504000"/>
          </a:xfrm>
          <a:prstGeom prst="roundRect">
            <a:avLst>
              <a:gd name="adj" fmla="val 11354"/>
            </a:avLst>
          </a:prstGeom>
          <a:solidFill>
            <a:schemeClr val="bg1"/>
          </a:solidFill>
          <a:ln>
            <a:solidFill>
              <a:srgbClr val="FBB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PSO-BP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矩形: 圆角 168">
                <a:extLst>
                  <a:ext uri="{FF2B5EF4-FFF2-40B4-BE49-F238E27FC236}">
                    <a16:creationId xmlns:a16="http://schemas.microsoft.com/office/drawing/2014/main" id="{29C46364-087F-2D3E-D113-F054248F6A13}"/>
                  </a:ext>
                </a:extLst>
              </p:cNvPr>
              <p:cNvSpPr/>
              <p:nvPr/>
            </p:nvSpPr>
            <p:spPr>
              <a:xfrm>
                <a:off x="2578727" y="3513507"/>
                <a:ext cx="1908000" cy="1008000"/>
              </a:xfrm>
              <a:prstGeom prst="roundRect">
                <a:avLst>
                  <a:gd name="adj" fmla="val 4081"/>
                </a:avLst>
              </a:prstGeom>
              <a:solidFill>
                <a:schemeClr val="bg1"/>
              </a:solidFill>
              <a:ln>
                <a:solidFill>
                  <a:srgbClr val="FBBE9A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US" altLang="zh-CN" sz="1400" b="1" dirty="0">
                    <a:solidFill>
                      <a:srgbClr val="F79646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Cost–sensitive model</a:t>
                </a:r>
                <a:endParaRPr lang="en-US" altLang="zh-CN" sz="105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:endParaRPr lang="en-US" altLang="zh-CN" sz="10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GA-BP (</a:t>
                </a:r>
                <a:r>
                  <a:rPr lang="el-GR" altLang="zh-CN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τ</a:t>
                </a:r>
                <a:r>
                  <a:rPr lang="en-US" altLang="zh-CN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scan)</a:t>
                </a:r>
                <a:br>
                  <a:rPr lang="en-US" altLang="zh-CN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𝜏</m:t>
                      </m:r>
                      <m:r>
                        <a:rPr lang="zh-CN" alt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CN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0.10</m:t>
                          </m:r>
                          <m:r>
                            <a:rPr lang="zh-CN" altLang="en-US" sz="12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，</m:t>
                          </m:r>
                          <m:r>
                            <a:rPr lang="en-US" altLang="zh-CN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0.15…0.5</m:t>
                          </m:r>
                        </m:e>
                      </m:d>
                    </m:oMath>
                  </m:oMathPara>
                </a14:m>
                <a:endParaRPr lang="en-US" altLang="zh-CN" sz="1000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:endParaRPr lang="en-US" altLang="zh-CN" sz="10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:endParaRPr lang="en-US" altLang="zh-CN" sz="10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9" name="矩形: 圆角 168">
                <a:extLst>
                  <a:ext uri="{FF2B5EF4-FFF2-40B4-BE49-F238E27FC236}">
                    <a16:creationId xmlns:a16="http://schemas.microsoft.com/office/drawing/2014/main" id="{29C46364-087F-2D3E-D113-F054248F6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727" y="3513507"/>
                <a:ext cx="1908000" cy="1008000"/>
              </a:xfrm>
              <a:prstGeom prst="roundRect">
                <a:avLst>
                  <a:gd name="adj" fmla="val 4081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FBBE9A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0" name="矩形: 圆角 169">
            <a:extLst>
              <a:ext uri="{FF2B5EF4-FFF2-40B4-BE49-F238E27FC236}">
                <a16:creationId xmlns:a16="http://schemas.microsoft.com/office/drawing/2014/main" id="{6C6B3EDD-37D6-523E-867C-2E9A76531F6D}"/>
              </a:ext>
            </a:extLst>
          </p:cNvPr>
          <p:cNvSpPr/>
          <p:nvPr/>
        </p:nvSpPr>
        <p:spPr>
          <a:xfrm>
            <a:off x="4857381" y="770964"/>
            <a:ext cx="2340000" cy="1944000"/>
          </a:xfrm>
          <a:prstGeom prst="roundRect">
            <a:avLst>
              <a:gd name="adj" fmla="val 2413"/>
            </a:avLst>
          </a:prstGeom>
          <a:solidFill>
            <a:schemeClr val="bg1">
              <a:alpha val="39000"/>
            </a:schemeClr>
          </a:solidFill>
          <a:ln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b="1" dirty="0">
                <a:solidFill>
                  <a:srgbClr val="FFC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Asymmetric GA-BP exploration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τ-parameter sensitivity analysis and performance evaluation</a:t>
            </a:r>
          </a:p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LOO-CV</a:t>
            </a:r>
          </a:p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Multi-metric evaluation</a:t>
            </a:r>
          </a:p>
          <a:p>
            <a:pPr algn="ctr"/>
            <a:endParaRPr lang="en-US" altLang="zh-CN" sz="10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1" name="矩形: 圆角 170">
            <a:extLst>
              <a:ext uri="{FF2B5EF4-FFF2-40B4-BE49-F238E27FC236}">
                <a16:creationId xmlns:a16="http://schemas.microsoft.com/office/drawing/2014/main" id="{B36AA3F4-F669-D420-2C61-45E6D5BFC023}"/>
              </a:ext>
            </a:extLst>
          </p:cNvPr>
          <p:cNvSpPr/>
          <p:nvPr/>
        </p:nvSpPr>
        <p:spPr>
          <a:xfrm>
            <a:off x="4862005" y="2881646"/>
            <a:ext cx="2340000" cy="1656000"/>
          </a:xfrm>
          <a:prstGeom prst="roundRect">
            <a:avLst>
              <a:gd name="adj" fmla="val 2413"/>
            </a:avLst>
          </a:prstGeom>
          <a:solidFill>
            <a:schemeClr val="bg1">
              <a:alpha val="39000"/>
            </a:schemeClr>
          </a:solidFill>
          <a:ln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b="1" dirty="0">
                <a:solidFill>
                  <a:srgbClr val="FFC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Exogenous underestimation control methods</a:t>
            </a:r>
            <a:endParaRPr lang="zh-CN" altLang="en-US" sz="1400" b="1" dirty="0">
              <a:solidFill>
                <a:srgbClr val="FFC0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BF1946FF-8A7B-22E9-BD99-324544319B85}"/>
              </a:ext>
            </a:extLst>
          </p:cNvPr>
          <p:cNvSpPr/>
          <p:nvPr/>
        </p:nvSpPr>
        <p:spPr>
          <a:xfrm>
            <a:off x="5001306" y="1949703"/>
            <a:ext cx="2068945" cy="692727"/>
          </a:xfrm>
          <a:prstGeom prst="rect">
            <a:avLst/>
          </a:prstGeom>
          <a:solidFill>
            <a:schemeClr val="bg1"/>
          </a:solidFill>
          <a:ln>
            <a:solidFill>
              <a:srgbClr val="FF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rgbClr val="FFC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Conclusion: </a:t>
            </a:r>
          </a:p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Asymmetric GA-BP exploration did not show a stable advantage</a:t>
            </a:r>
            <a:endParaRPr lang="zh-CN" altLang="en-US" sz="11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矩形: 圆角 172">
                <a:extLst>
                  <a:ext uri="{FF2B5EF4-FFF2-40B4-BE49-F238E27FC236}">
                    <a16:creationId xmlns:a16="http://schemas.microsoft.com/office/drawing/2014/main" id="{0D458150-0191-3DBD-F49E-A042D9937A65}"/>
                  </a:ext>
                </a:extLst>
              </p:cNvPr>
              <p:cNvSpPr/>
              <p:nvPr/>
            </p:nvSpPr>
            <p:spPr>
              <a:xfrm>
                <a:off x="4930771" y="3385086"/>
                <a:ext cx="2212082" cy="424516"/>
              </a:xfrm>
              <a:prstGeom prst="roundRect">
                <a:avLst>
                  <a:gd name="adj" fmla="val 10375"/>
                </a:avLst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Upper envelope ensemble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40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zh-CN" altLang="zh-CN" sz="4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000" i="1" ker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Noto Sans CJK SC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zh-CN" sz="10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Noto Sans CJK SC"/>
                              <a:cs typeface="Times New Roman" panose="020206030504050203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altLang="zh-CN" sz="10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m:t>(</m:t>
                      </m:r>
                      <m:r>
                        <a:rPr lang="en-US" altLang="zh-CN" sz="10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m:t>𝑥</m:t>
                      </m:r>
                      <m:r>
                        <a:rPr lang="en-US" altLang="zh-CN" sz="10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宋体" panose="02010600030101010101" pitchFamily="2" charset="-122"/>
                          <a:cs typeface="宋体" panose="02010600030101010101" pitchFamily="2" charset="-122"/>
                        </a:rPr>
                        <m:t>)=</m:t>
                      </m:r>
                      <m:r>
                        <a:rPr lang="en-US" altLang="zh-CN" sz="10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Noto Sans CJK SC"/>
                          <a:cs typeface="Times New Roman" panose="02020603050405020304" pitchFamily="18" charset="0"/>
                        </a:rPr>
                        <m:t>𝑚𝑎𝑥</m:t>
                      </m:r>
                      <m:sSub>
                        <m:sSubPr>
                          <m:ctrlPr>
                            <a:rPr lang="zh-CN" altLang="zh-CN" sz="4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Noto Sans CJK SC"/>
                              <a:cs typeface="Times New Roman" panose="020206030504050203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sz="10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Noto Sans CJK SC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zh-CN" altLang="zh-CN" sz="4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0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Noto Sans CJK SC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altLang="zh-CN" sz="7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3" name="矩形: 圆角 172">
                <a:extLst>
                  <a:ext uri="{FF2B5EF4-FFF2-40B4-BE49-F238E27FC236}">
                    <a16:creationId xmlns:a16="http://schemas.microsoft.com/office/drawing/2014/main" id="{0D458150-0191-3DBD-F49E-A042D9937A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0771" y="3385086"/>
                <a:ext cx="2212082" cy="424516"/>
              </a:xfrm>
              <a:prstGeom prst="roundRect">
                <a:avLst>
                  <a:gd name="adj" fmla="val 10375"/>
                </a:avLst>
              </a:prstGeom>
              <a:blipFill>
                <a:blip r:embed="rId4"/>
                <a:stretch>
                  <a:fillRect b="-2778"/>
                </a:stretch>
              </a:blipFill>
              <a:ln>
                <a:solidFill>
                  <a:srgbClr val="FFC000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矩形: 圆角 173">
                <a:extLst>
                  <a:ext uri="{FF2B5EF4-FFF2-40B4-BE49-F238E27FC236}">
                    <a16:creationId xmlns:a16="http://schemas.microsoft.com/office/drawing/2014/main" id="{2E55C486-34C9-9745-0718-756CD250A145}"/>
                  </a:ext>
                </a:extLst>
              </p:cNvPr>
              <p:cNvSpPr/>
              <p:nvPr/>
            </p:nvSpPr>
            <p:spPr>
              <a:xfrm>
                <a:off x="4930771" y="3960304"/>
                <a:ext cx="2193220" cy="460889"/>
              </a:xfrm>
              <a:prstGeom prst="roundRect">
                <a:avLst>
                  <a:gd name="adj" fmla="val 9491"/>
                </a:avLst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US" altLang="zh-CN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Residual-quantile adjustment</a:t>
                </a:r>
              </a:p>
              <a:p>
                <a:pPr algn="ctr"/>
                <a:endParaRPr lang="en-US" altLang="zh-CN" sz="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:endParaRPr lang="en-US" altLang="zh-CN" sz="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:endParaRPr lang="en-US" altLang="zh-CN" sz="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600" i="1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zh-CN" altLang="zh-CN" sz="600" i="1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i="1" kern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𝑠𝑎𝑓𝑒</m:t>
                          </m:r>
                        </m:sub>
                      </m:sSub>
                      <m:d>
                        <m:dPr>
                          <m:ctrlPr>
                            <a:rPr lang="zh-CN" altLang="zh-CN" sz="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2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2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CN" sz="12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zh-CN" altLang="zh-CN" sz="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2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200" i="1" ker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zh-CN" sz="600" i="1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200" i="1" ker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zh-CN" altLang="en-US" sz="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4" name="矩形: 圆角 173">
                <a:extLst>
                  <a:ext uri="{FF2B5EF4-FFF2-40B4-BE49-F238E27FC236}">
                    <a16:creationId xmlns:a16="http://schemas.microsoft.com/office/drawing/2014/main" id="{2E55C486-34C9-9745-0718-756CD250A1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0771" y="3960304"/>
                <a:ext cx="2193220" cy="460889"/>
              </a:xfrm>
              <a:prstGeom prst="roundRect">
                <a:avLst>
                  <a:gd name="adj" fmla="val 9491"/>
                </a:avLst>
              </a:prstGeom>
              <a:blipFill>
                <a:blip r:embed="rId5"/>
                <a:stretch>
                  <a:fillRect b="-14286"/>
                </a:stretch>
              </a:blipFill>
              <a:ln>
                <a:solidFill>
                  <a:srgbClr val="FFC000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矩形: 圆角 174">
            <a:extLst>
              <a:ext uri="{FF2B5EF4-FFF2-40B4-BE49-F238E27FC236}">
                <a16:creationId xmlns:a16="http://schemas.microsoft.com/office/drawing/2014/main" id="{3A34A951-6D72-65AE-06C8-B38F46FDF494}"/>
              </a:ext>
            </a:extLst>
          </p:cNvPr>
          <p:cNvSpPr/>
          <p:nvPr/>
        </p:nvSpPr>
        <p:spPr>
          <a:xfrm>
            <a:off x="7546109" y="761729"/>
            <a:ext cx="2160000" cy="1764000"/>
          </a:xfrm>
          <a:prstGeom prst="roundRect">
            <a:avLst>
              <a:gd name="adj" fmla="val 4393"/>
            </a:avLst>
          </a:prstGeom>
          <a:solidFill>
            <a:schemeClr val="bg1">
              <a:alpha val="39000"/>
            </a:schemeClr>
          </a:solidFill>
          <a:ln>
            <a:solidFill>
              <a:srgbClr val="D1E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b="1" dirty="0">
                <a:solidFill>
                  <a:srgbClr val="4BACC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Accuracy metrics</a:t>
            </a:r>
            <a:endParaRPr lang="zh-CN" altLang="en-US" sz="1200" b="1" dirty="0">
              <a:solidFill>
                <a:srgbClr val="4BACC6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1EE1D09E-A8F2-068C-3D4F-A1985BFF9543}"/>
              </a:ext>
            </a:extLst>
          </p:cNvPr>
          <p:cNvSpPr/>
          <p:nvPr/>
        </p:nvSpPr>
        <p:spPr>
          <a:xfrm>
            <a:off x="7546109" y="2613620"/>
            <a:ext cx="2160000" cy="889708"/>
          </a:xfrm>
          <a:prstGeom prst="roundRect">
            <a:avLst>
              <a:gd name="adj" fmla="val 4393"/>
            </a:avLst>
          </a:prstGeom>
          <a:solidFill>
            <a:schemeClr val="bg1">
              <a:alpha val="39000"/>
            </a:schemeClr>
          </a:solidFill>
          <a:ln>
            <a:solidFill>
              <a:srgbClr val="D1E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b="1" dirty="0">
                <a:solidFill>
                  <a:srgbClr val="4BACC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Error-distribution metrics</a:t>
            </a:r>
            <a:endParaRPr lang="zh-CN" altLang="en-US" sz="1200" b="1" dirty="0">
              <a:solidFill>
                <a:srgbClr val="4BACC6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3F8037FC-E0FD-A3CC-EDFF-C3EA001724AF}"/>
              </a:ext>
            </a:extLst>
          </p:cNvPr>
          <p:cNvSpPr/>
          <p:nvPr/>
        </p:nvSpPr>
        <p:spPr>
          <a:xfrm>
            <a:off x="7558022" y="3591219"/>
            <a:ext cx="2160000" cy="804100"/>
          </a:xfrm>
          <a:prstGeom prst="roundRect">
            <a:avLst>
              <a:gd name="adj" fmla="val 4393"/>
            </a:avLst>
          </a:prstGeom>
          <a:solidFill>
            <a:schemeClr val="bg1">
              <a:alpha val="39000"/>
            </a:schemeClr>
          </a:solidFill>
          <a:ln>
            <a:solidFill>
              <a:srgbClr val="D1EA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Integrated analysis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BED249F-0CCA-CDBD-11B2-9B8581053F82}"/>
              </a:ext>
            </a:extLst>
          </p:cNvPr>
          <p:cNvSpPr/>
          <p:nvPr/>
        </p:nvSpPr>
        <p:spPr>
          <a:xfrm>
            <a:off x="7656678" y="1035153"/>
            <a:ext cx="957004" cy="396000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RMSE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3585130A-325A-A5DF-546A-E7A35F87C14E}"/>
              </a:ext>
            </a:extLst>
          </p:cNvPr>
          <p:cNvSpPr/>
          <p:nvPr/>
        </p:nvSpPr>
        <p:spPr>
          <a:xfrm>
            <a:off x="8703927" y="1035153"/>
            <a:ext cx="900000" cy="396000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MAE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3594D9D9-9B96-E44F-C034-05ED2A0C7AAB}"/>
              </a:ext>
            </a:extLst>
          </p:cNvPr>
          <p:cNvSpPr/>
          <p:nvPr/>
        </p:nvSpPr>
        <p:spPr>
          <a:xfrm>
            <a:off x="7656677" y="1528712"/>
            <a:ext cx="957005" cy="396000"/>
          </a:xfrm>
          <a:prstGeom prst="roundRect">
            <a:avLst>
              <a:gd name="adj" fmla="val 0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</a:t>
            </a:r>
            <a:r>
              <a:rPr lang="en-US" altLang="zh-CN" sz="12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MedAE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2CCBB7DE-A715-5FAE-A94A-16E51D80C1D6}"/>
              </a:ext>
            </a:extLst>
          </p:cNvPr>
          <p:cNvSpPr/>
          <p:nvPr/>
        </p:nvSpPr>
        <p:spPr>
          <a:xfrm>
            <a:off x="8703927" y="1528712"/>
            <a:ext cx="900000" cy="396000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EVS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2" name="矩形: 圆角 181">
            <a:extLst>
              <a:ext uri="{FF2B5EF4-FFF2-40B4-BE49-F238E27FC236}">
                <a16:creationId xmlns:a16="http://schemas.microsoft.com/office/drawing/2014/main" id="{3E828BC6-109D-5B4B-7E15-FA7A2782640B}"/>
              </a:ext>
            </a:extLst>
          </p:cNvPr>
          <p:cNvSpPr/>
          <p:nvPr/>
        </p:nvSpPr>
        <p:spPr>
          <a:xfrm>
            <a:off x="7656678" y="2022271"/>
            <a:ext cx="957004" cy="396000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R²</a:t>
            </a:r>
          </a:p>
        </p:txBody>
      </p:sp>
      <p:sp>
        <p:nvSpPr>
          <p:cNvPr id="183" name="矩形: 圆角 182">
            <a:extLst>
              <a:ext uri="{FF2B5EF4-FFF2-40B4-BE49-F238E27FC236}">
                <a16:creationId xmlns:a16="http://schemas.microsoft.com/office/drawing/2014/main" id="{DAC13BAB-B9DE-AAD3-BB87-514C87D678DA}"/>
              </a:ext>
            </a:extLst>
          </p:cNvPr>
          <p:cNvSpPr/>
          <p:nvPr/>
        </p:nvSpPr>
        <p:spPr>
          <a:xfrm>
            <a:off x="8703927" y="2022271"/>
            <a:ext cx="900000" cy="396000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UR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9" name="矩形: 圆角 188">
            <a:extLst>
              <a:ext uri="{FF2B5EF4-FFF2-40B4-BE49-F238E27FC236}">
                <a16:creationId xmlns:a16="http://schemas.microsoft.com/office/drawing/2014/main" id="{FF27BFCD-E73D-4A34-13DF-728F52F02EC0}"/>
              </a:ext>
            </a:extLst>
          </p:cNvPr>
          <p:cNvSpPr/>
          <p:nvPr/>
        </p:nvSpPr>
        <p:spPr>
          <a:xfrm>
            <a:off x="10029607" y="761728"/>
            <a:ext cx="1980000" cy="3806307"/>
          </a:xfrm>
          <a:prstGeom prst="roundRect">
            <a:avLst>
              <a:gd name="adj" fmla="val 3606"/>
            </a:avLst>
          </a:prstGeom>
          <a:solidFill>
            <a:schemeClr val="bg1">
              <a:alpha val="39000"/>
            </a:schemeClr>
          </a:solidFill>
          <a:ln>
            <a:solidFill>
              <a:srgbClr val="CAE0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b="1" dirty="0">
                <a:solidFill>
                  <a:srgbClr val="0070C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Interpretation &amp; decision</a:t>
            </a:r>
            <a:endParaRPr lang="zh-CN" altLang="en-US" sz="1200" b="1" dirty="0">
              <a:solidFill>
                <a:srgbClr val="0070C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0" name="矩形: 圆角 189">
            <a:extLst>
              <a:ext uri="{FF2B5EF4-FFF2-40B4-BE49-F238E27FC236}">
                <a16:creationId xmlns:a16="http://schemas.microsoft.com/office/drawing/2014/main" id="{4F2FC9AD-8EFD-EADF-7165-708B1D6EB52E}"/>
              </a:ext>
            </a:extLst>
          </p:cNvPr>
          <p:cNvSpPr/>
          <p:nvPr/>
        </p:nvSpPr>
        <p:spPr>
          <a:xfrm>
            <a:off x="7659927" y="2961424"/>
            <a:ext cx="1944000" cy="323992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APE distribution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2" name="矩形: 圆角 191">
            <a:extLst>
              <a:ext uri="{FF2B5EF4-FFF2-40B4-BE49-F238E27FC236}">
                <a16:creationId xmlns:a16="http://schemas.microsoft.com/office/drawing/2014/main" id="{86FEEADF-8196-7912-7174-F88F255DCAA1}"/>
              </a:ext>
            </a:extLst>
          </p:cNvPr>
          <p:cNvSpPr/>
          <p:nvPr/>
        </p:nvSpPr>
        <p:spPr>
          <a:xfrm>
            <a:off x="7757809" y="3968929"/>
            <a:ext cx="1656522" cy="396000"/>
          </a:xfrm>
          <a:prstGeom prst="roundRect">
            <a:avLst>
              <a:gd name="adj" fmla="val 11354"/>
            </a:avLst>
          </a:prstGeom>
          <a:solidFill>
            <a:schemeClr val="bg1">
              <a:alpha val="39000"/>
            </a:schemeClr>
          </a:solidFill>
          <a:ln>
            <a:solidFill>
              <a:srgbClr val="D7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Pareto analysis</a:t>
            </a:r>
            <a:endParaRPr lang="zh-CN" altLang="en-US" sz="12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3" name="箭头: 右 192">
            <a:extLst>
              <a:ext uri="{FF2B5EF4-FFF2-40B4-BE49-F238E27FC236}">
                <a16:creationId xmlns:a16="http://schemas.microsoft.com/office/drawing/2014/main" id="{70E65171-083A-12A8-AEF0-316301D2981C}"/>
              </a:ext>
            </a:extLst>
          </p:cNvPr>
          <p:cNvSpPr/>
          <p:nvPr/>
        </p:nvSpPr>
        <p:spPr>
          <a:xfrm>
            <a:off x="2161893" y="310506"/>
            <a:ext cx="396000" cy="233079"/>
          </a:xfrm>
          <a:prstGeom prst="rightArrow">
            <a:avLst/>
          </a:prstGeom>
          <a:solidFill>
            <a:srgbClr val="81A3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箭头: 右 193">
            <a:extLst>
              <a:ext uri="{FF2B5EF4-FFF2-40B4-BE49-F238E27FC236}">
                <a16:creationId xmlns:a16="http://schemas.microsoft.com/office/drawing/2014/main" id="{56B7BE83-A344-F7F4-87E4-CD31E136A0DF}"/>
              </a:ext>
            </a:extLst>
          </p:cNvPr>
          <p:cNvSpPr/>
          <p:nvPr/>
        </p:nvSpPr>
        <p:spPr>
          <a:xfrm>
            <a:off x="4515909" y="310506"/>
            <a:ext cx="396000" cy="233079"/>
          </a:xfrm>
          <a:prstGeom prst="rightArrow">
            <a:avLst/>
          </a:prstGeom>
          <a:solidFill>
            <a:srgbClr val="F79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5" name="箭头: 右 194">
            <a:extLst>
              <a:ext uri="{FF2B5EF4-FFF2-40B4-BE49-F238E27FC236}">
                <a16:creationId xmlns:a16="http://schemas.microsoft.com/office/drawing/2014/main" id="{3A3314C6-A157-16A1-DA78-1BA4B5C83468}"/>
              </a:ext>
            </a:extLst>
          </p:cNvPr>
          <p:cNvSpPr/>
          <p:nvPr/>
        </p:nvSpPr>
        <p:spPr>
          <a:xfrm>
            <a:off x="7173769" y="310506"/>
            <a:ext cx="396000" cy="233079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6" name="箭头: 右 195">
            <a:extLst>
              <a:ext uri="{FF2B5EF4-FFF2-40B4-BE49-F238E27FC236}">
                <a16:creationId xmlns:a16="http://schemas.microsoft.com/office/drawing/2014/main" id="{E950DB73-22BA-1BBE-942E-7E582205EFCF}"/>
              </a:ext>
            </a:extLst>
          </p:cNvPr>
          <p:cNvSpPr/>
          <p:nvPr/>
        </p:nvSpPr>
        <p:spPr>
          <a:xfrm>
            <a:off x="9679707" y="310506"/>
            <a:ext cx="396000" cy="233079"/>
          </a:xfrm>
          <a:prstGeom prst="rightArrow">
            <a:avLst/>
          </a:prstGeom>
          <a:solidFill>
            <a:srgbClr val="4BAC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: 圆角 183">
            <a:extLst>
              <a:ext uri="{FF2B5EF4-FFF2-40B4-BE49-F238E27FC236}">
                <a16:creationId xmlns:a16="http://schemas.microsoft.com/office/drawing/2014/main" id="{4BE7C512-BD80-3824-9356-B88C4711139B}"/>
              </a:ext>
            </a:extLst>
          </p:cNvPr>
          <p:cNvSpPr/>
          <p:nvPr/>
        </p:nvSpPr>
        <p:spPr>
          <a:xfrm>
            <a:off x="10123055" y="1044388"/>
            <a:ext cx="1800000" cy="638659"/>
          </a:xfrm>
          <a:prstGeom prst="roundRect">
            <a:avLst/>
          </a:prstGeom>
          <a:solidFill>
            <a:schemeClr val="bg1"/>
          </a:solidFill>
          <a:ln>
            <a:solidFill>
              <a:srgbClr val="CAE0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SHAP analysis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Global feature importance Local interpretation</a:t>
            </a:r>
            <a:endParaRPr lang="zh-CN" altLang="en-US" sz="10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BB5BB85-0A2E-77D5-5920-DE75BD190543}"/>
              </a:ext>
            </a:extLst>
          </p:cNvPr>
          <p:cNvSpPr/>
          <p:nvPr/>
        </p:nvSpPr>
        <p:spPr>
          <a:xfrm>
            <a:off x="10119363" y="1880137"/>
            <a:ext cx="1800000" cy="738637"/>
          </a:xfrm>
          <a:prstGeom prst="roundRect">
            <a:avLst/>
          </a:prstGeom>
          <a:solidFill>
            <a:schemeClr val="bg1"/>
          </a:solidFill>
          <a:ln>
            <a:solidFill>
              <a:srgbClr val="CAE0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Key driver identification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Identify the key factors with the greatest impact on cost and support engineering decisions</a:t>
            </a:r>
            <a:endParaRPr lang="zh-CN" altLang="en-US" sz="9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7" name="矩形: 圆角 186">
            <a:extLst>
              <a:ext uri="{FF2B5EF4-FFF2-40B4-BE49-F238E27FC236}">
                <a16:creationId xmlns:a16="http://schemas.microsoft.com/office/drawing/2014/main" id="{B8AB0866-A36E-7FAF-5D96-C073AAD3DAAF}"/>
              </a:ext>
            </a:extLst>
          </p:cNvPr>
          <p:cNvSpPr/>
          <p:nvPr/>
        </p:nvSpPr>
        <p:spPr>
          <a:xfrm>
            <a:off x="10123055" y="2815864"/>
            <a:ext cx="1800000" cy="805608"/>
          </a:xfrm>
          <a:prstGeom prst="roundRect">
            <a:avLst/>
          </a:prstGeom>
          <a:solidFill>
            <a:schemeClr val="bg1"/>
          </a:solidFill>
          <a:ln>
            <a:solidFill>
              <a:srgbClr val="CAE0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Risk–accuracy trade-off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Compare the performance of different methods under different risk preferences and identify the optimal solution</a:t>
            </a:r>
            <a:endParaRPr lang="zh-CN" altLang="en-US" sz="9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8" name="矩形: 圆角 187">
            <a:extLst>
              <a:ext uri="{FF2B5EF4-FFF2-40B4-BE49-F238E27FC236}">
                <a16:creationId xmlns:a16="http://schemas.microsoft.com/office/drawing/2014/main" id="{45AA48C7-7881-D06A-20BA-3FA83D148238}"/>
              </a:ext>
            </a:extLst>
          </p:cNvPr>
          <p:cNvSpPr/>
          <p:nvPr/>
        </p:nvSpPr>
        <p:spPr>
          <a:xfrm>
            <a:off x="10153901" y="3818563"/>
            <a:ext cx="1800000" cy="458380"/>
          </a:xfrm>
          <a:prstGeom prst="roundRect">
            <a:avLst/>
          </a:prstGeom>
          <a:solidFill>
            <a:schemeClr val="bg1"/>
          </a:solidFill>
          <a:ln>
            <a:solidFill>
              <a:srgbClr val="CAE0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Engineering decision support</a:t>
            </a:r>
          </a:p>
          <a:p>
            <a:pPr algn="ctr"/>
            <a:endParaRPr lang="en-US" altLang="zh-CN" sz="900" b="1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98" name="图形 197" descr="信号塔">
            <a:extLst>
              <a:ext uri="{FF2B5EF4-FFF2-40B4-BE49-F238E27FC236}">
                <a16:creationId xmlns:a16="http://schemas.microsoft.com/office/drawing/2014/main" id="{12C001D9-ED67-7B48-CDC9-30A66D62C4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3302" y="794275"/>
            <a:ext cx="504000" cy="504000"/>
          </a:xfrm>
          <a:prstGeom prst="rect">
            <a:avLst/>
          </a:prstGeom>
        </p:spPr>
      </p:pic>
      <p:pic>
        <p:nvPicPr>
          <p:cNvPr id="200" name="图形 199" descr="研究">
            <a:extLst>
              <a:ext uri="{FF2B5EF4-FFF2-40B4-BE49-F238E27FC236}">
                <a16:creationId xmlns:a16="http://schemas.microsoft.com/office/drawing/2014/main" id="{3DB49410-4ACB-88B7-C60F-FFFAA0BA8D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2773" y="1683047"/>
            <a:ext cx="504000" cy="504000"/>
          </a:xfrm>
          <a:prstGeom prst="rect">
            <a:avLst/>
          </a:prstGeom>
        </p:spPr>
      </p:pic>
      <p:pic>
        <p:nvPicPr>
          <p:cNvPr id="204" name="图形 203" descr="月历">
            <a:extLst>
              <a:ext uri="{FF2B5EF4-FFF2-40B4-BE49-F238E27FC236}">
                <a16:creationId xmlns:a16="http://schemas.microsoft.com/office/drawing/2014/main" id="{60760BF3-B529-4107-FEBB-979437956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0438" y="2610702"/>
            <a:ext cx="504000" cy="504000"/>
          </a:xfrm>
          <a:prstGeom prst="rect">
            <a:avLst/>
          </a:prstGeom>
        </p:spPr>
      </p:pic>
      <p:pic>
        <p:nvPicPr>
          <p:cNvPr id="206" name="图形 205" descr="数据库">
            <a:extLst>
              <a:ext uri="{FF2B5EF4-FFF2-40B4-BE49-F238E27FC236}">
                <a16:creationId xmlns:a16="http://schemas.microsoft.com/office/drawing/2014/main" id="{94AF7EBE-A24B-6C7A-ADD9-15D0596BF8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8073" y="3581655"/>
            <a:ext cx="360000" cy="360000"/>
          </a:xfrm>
          <a:prstGeom prst="rect">
            <a:avLst/>
          </a:prstGeom>
        </p:spPr>
      </p:pic>
      <p:pic>
        <p:nvPicPr>
          <p:cNvPr id="208" name="图形 207" descr="上升趋势">
            <a:extLst>
              <a:ext uri="{FF2B5EF4-FFF2-40B4-BE49-F238E27FC236}">
                <a16:creationId xmlns:a16="http://schemas.microsoft.com/office/drawing/2014/main" id="{D16E2BCC-A97B-C96C-E77C-347BBBD59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23400" y="1107830"/>
            <a:ext cx="432000" cy="432000"/>
          </a:xfrm>
          <a:prstGeom prst="rect">
            <a:avLst/>
          </a:prstGeom>
        </p:spPr>
      </p:pic>
      <p:pic>
        <p:nvPicPr>
          <p:cNvPr id="210" name="图形 209" descr="统计信息 RTL">
            <a:extLst>
              <a:ext uri="{FF2B5EF4-FFF2-40B4-BE49-F238E27FC236}">
                <a16:creationId xmlns:a16="http://schemas.microsoft.com/office/drawing/2014/main" id="{CFB00575-7FE0-71CF-C4DA-4FB5C6D437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64076" y="1116655"/>
            <a:ext cx="432000" cy="432000"/>
          </a:xfrm>
          <a:prstGeom prst="rect">
            <a:avLst/>
          </a:prstGeom>
        </p:spPr>
      </p:pic>
      <p:pic>
        <p:nvPicPr>
          <p:cNvPr id="212" name="图形 211" descr="枞树">
            <a:extLst>
              <a:ext uri="{FF2B5EF4-FFF2-40B4-BE49-F238E27FC236}">
                <a16:creationId xmlns:a16="http://schemas.microsoft.com/office/drawing/2014/main" id="{1369DE2B-F979-6EA8-37FF-23B00CB4D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32365" y="1708712"/>
            <a:ext cx="432000" cy="432000"/>
          </a:xfrm>
          <a:prstGeom prst="rect">
            <a:avLst/>
          </a:prstGeom>
        </p:spPr>
      </p:pic>
      <p:pic>
        <p:nvPicPr>
          <p:cNvPr id="214" name="图形 213" descr="决策图">
            <a:extLst>
              <a:ext uri="{FF2B5EF4-FFF2-40B4-BE49-F238E27FC236}">
                <a16:creationId xmlns:a16="http://schemas.microsoft.com/office/drawing/2014/main" id="{DB3294C4-2496-1D5E-FB12-C5EC20F860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12557" y="1700152"/>
            <a:ext cx="432000" cy="432000"/>
          </a:xfrm>
          <a:prstGeom prst="rect">
            <a:avLst/>
          </a:prstGeom>
        </p:spPr>
      </p:pic>
      <p:pic>
        <p:nvPicPr>
          <p:cNvPr id="216" name="图形 215" descr="带齿轮的头部">
            <a:extLst>
              <a:ext uri="{FF2B5EF4-FFF2-40B4-BE49-F238E27FC236}">
                <a16:creationId xmlns:a16="http://schemas.microsoft.com/office/drawing/2014/main" id="{80AF9C47-0120-D6EF-B158-98D172DAC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32365" y="2265472"/>
            <a:ext cx="432000" cy="432000"/>
          </a:xfrm>
          <a:prstGeom prst="rect">
            <a:avLst/>
          </a:prstGeom>
        </p:spPr>
      </p:pic>
      <p:pic>
        <p:nvPicPr>
          <p:cNvPr id="218" name="图形 217" descr="社交网络">
            <a:extLst>
              <a:ext uri="{FF2B5EF4-FFF2-40B4-BE49-F238E27FC236}">
                <a16:creationId xmlns:a16="http://schemas.microsoft.com/office/drawing/2014/main" id="{29A7741C-B9A3-8E74-C61F-CF871F703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612557" y="2875882"/>
            <a:ext cx="252000" cy="252000"/>
          </a:xfrm>
          <a:prstGeom prst="rect">
            <a:avLst/>
          </a:prstGeom>
        </p:spPr>
      </p:pic>
      <p:pic>
        <p:nvPicPr>
          <p:cNvPr id="220" name="图形 219" descr="连接">
            <a:extLst>
              <a:ext uri="{FF2B5EF4-FFF2-40B4-BE49-F238E27FC236}">
                <a16:creationId xmlns:a16="http://schemas.microsoft.com/office/drawing/2014/main" id="{38BD548C-6F17-26D9-972A-501EFA871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32365" y="2862702"/>
            <a:ext cx="324000" cy="324000"/>
          </a:xfrm>
          <a:prstGeom prst="rect">
            <a:avLst/>
          </a:prstGeom>
        </p:spPr>
      </p:pic>
      <p:pic>
        <p:nvPicPr>
          <p:cNvPr id="222" name="图形 221" descr="谷物">
            <a:extLst>
              <a:ext uri="{FF2B5EF4-FFF2-40B4-BE49-F238E27FC236}">
                <a16:creationId xmlns:a16="http://schemas.microsoft.com/office/drawing/2014/main" id="{44540BA5-7871-5401-86DC-AF65A7C060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603152" y="2265719"/>
            <a:ext cx="432000" cy="432000"/>
          </a:xfrm>
          <a:prstGeom prst="rect">
            <a:avLst/>
          </a:prstGeom>
        </p:spPr>
      </p:pic>
      <p:pic>
        <p:nvPicPr>
          <p:cNvPr id="224" name="图形 223" descr="下降趋势条形图">
            <a:extLst>
              <a:ext uri="{FF2B5EF4-FFF2-40B4-BE49-F238E27FC236}">
                <a16:creationId xmlns:a16="http://schemas.microsoft.com/office/drawing/2014/main" id="{B27FED3C-C81E-4BB9-D28C-1B9A624C40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733210" y="2021601"/>
            <a:ext cx="432000" cy="432000"/>
          </a:xfrm>
          <a:prstGeom prst="rect">
            <a:avLst/>
          </a:prstGeom>
        </p:spPr>
      </p:pic>
      <p:pic>
        <p:nvPicPr>
          <p:cNvPr id="226" name="图形 225" descr="条形图演示文稿">
            <a:extLst>
              <a:ext uri="{FF2B5EF4-FFF2-40B4-BE49-F238E27FC236}">
                <a16:creationId xmlns:a16="http://schemas.microsoft.com/office/drawing/2014/main" id="{A07C8765-AA0C-2B0D-15B9-EC1CE15E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733210" y="1517473"/>
            <a:ext cx="432000" cy="432000"/>
          </a:xfrm>
          <a:prstGeom prst="rect">
            <a:avLst/>
          </a:prstGeom>
        </p:spPr>
      </p:pic>
      <p:pic>
        <p:nvPicPr>
          <p:cNvPr id="228" name="图形 227" descr="书架上的书籍">
            <a:extLst>
              <a:ext uri="{FF2B5EF4-FFF2-40B4-BE49-F238E27FC236}">
                <a16:creationId xmlns:a16="http://schemas.microsoft.com/office/drawing/2014/main" id="{45484E2B-9DFE-E979-8CB2-6773E2E167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656793" y="1529274"/>
            <a:ext cx="432000" cy="432000"/>
          </a:xfrm>
          <a:prstGeom prst="rect">
            <a:avLst/>
          </a:prstGeom>
        </p:spPr>
      </p:pic>
      <p:pic>
        <p:nvPicPr>
          <p:cNvPr id="230" name="图形 229" descr="数学">
            <a:extLst>
              <a:ext uri="{FF2B5EF4-FFF2-40B4-BE49-F238E27FC236}">
                <a16:creationId xmlns:a16="http://schemas.microsoft.com/office/drawing/2014/main" id="{E70301CD-8700-A337-8CBD-E541E25E16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659927" y="2022271"/>
            <a:ext cx="432000" cy="432000"/>
          </a:xfrm>
          <a:prstGeom prst="rect">
            <a:avLst/>
          </a:prstGeom>
        </p:spPr>
      </p:pic>
      <p:pic>
        <p:nvPicPr>
          <p:cNvPr id="232" name="图形 231" descr="清单演示文稿">
            <a:extLst>
              <a:ext uri="{FF2B5EF4-FFF2-40B4-BE49-F238E27FC236}">
                <a16:creationId xmlns:a16="http://schemas.microsoft.com/office/drawing/2014/main" id="{5AAECCD4-7231-900D-B8F3-43B933A08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656677" y="1035153"/>
            <a:ext cx="432000" cy="432000"/>
          </a:xfrm>
          <a:prstGeom prst="rect">
            <a:avLst/>
          </a:prstGeom>
        </p:spPr>
      </p:pic>
      <p:pic>
        <p:nvPicPr>
          <p:cNvPr id="234" name="图形 233" descr="文档">
            <a:extLst>
              <a:ext uri="{FF2B5EF4-FFF2-40B4-BE49-F238E27FC236}">
                <a16:creationId xmlns:a16="http://schemas.microsoft.com/office/drawing/2014/main" id="{B607A763-4192-7432-AA81-0283999E0A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681393" y="1041528"/>
            <a:ext cx="432000" cy="432000"/>
          </a:xfrm>
          <a:prstGeom prst="rect">
            <a:avLst/>
          </a:prstGeom>
        </p:spPr>
      </p:pic>
      <p:pic>
        <p:nvPicPr>
          <p:cNvPr id="238" name="图形 237" descr="正义天平">
            <a:extLst>
              <a:ext uri="{FF2B5EF4-FFF2-40B4-BE49-F238E27FC236}">
                <a16:creationId xmlns:a16="http://schemas.microsoft.com/office/drawing/2014/main" id="{9E7F5EA1-CB8A-865E-2431-135F5FD94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931092" y="3932929"/>
            <a:ext cx="432000" cy="43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7505</TotalTime>
  <Words>183</Words>
  <Application>Microsoft Office PowerPoint</Application>
  <PresentationFormat>宽屏</PresentationFormat>
  <Paragraphs>61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Arial</vt:lpstr>
      <vt:lpstr>Calibri</vt:lpstr>
      <vt:lpstr>Cambria Math</vt:lpstr>
      <vt:lpstr>Times New Roman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米丽萍</dc:creator>
  <cp:keywords/>
  <dc:description>generated using python-pptx</dc:description>
  <cp:lastModifiedBy>ZH Z</cp:lastModifiedBy>
  <cp:revision>13</cp:revision>
  <dcterms:created xsi:type="dcterms:W3CDTF">2013-01-27T09:14:16Z</dcterms:created>
  <dcterms:modified xsi:type="dcterms:W3CDTF">2026-06-22T06:48:51Z</dcterms:modified>
  <cp:category/>
</cp:coreProperties>
</file>